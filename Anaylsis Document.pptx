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4" r:id="rId3"/>
    <p:sldId id="257" r:id="rId4"/>
    <p:sldId id="258" r:id="rId5"/>
    <p:sldId id="259" r:id="rId6"/>
    <p:sldId id="264" r:id="rId7"/>
    <p:sldId id="260" r:id="rId8"/>
    <p:sldId id="263" r:id="rId9"/>
    <p:sldId id="262" r:id="rId10"/>
    <p:sldId id="265" r:id="rId11"/>
    <p:sldId id="266" r:id="rId12"/>
    <p:sldId id="267" r:id="rId13"/>
    <p:sldId id="268" r:id="rId14"/>
    <p:sldId id="269" r:id="rId15"/>
    <p:sldId id="270" r:id="rId16"/>
    <p:sldId id="271" r:id="rId17"/>
    <p:sldId id="272" r:id="rId18"/>
    <p:sldId id="273" r:id="rId19"/>
    <p:sldId id="261"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2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OneDrive\Documents\Q2%20Result.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E:\REPATI%20KOSAM\sql%20project_data\Q3%20result.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E:\REPATI%20KOSAM\sql%20project_data\Question%2011%20result.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E:\REPATI%20KOSAM\sql%20project_data\Question%2012%20result.csv"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[Q2 Result.csv]Sheet1!PivotTable3</c:name>
    <c:fmtId val="10"/>
  </c:pivotSource>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en-US"/>
              <a:t>Profit by</a:t>
            </a:r>
            <a:r>
              <a:rPr lang="en-US" baseline="0"/>
              <a:t> Category</a:t>
            </a:r>
            <a:r>
              <a:rPr lang="en-US"/>
              <a:t> </a:t>
            </a:r>
          </a:p>
        </c:rich>
      </c:tx>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en-US"/>
        </a:p>
      </c:txPr>
    </c:title>
    <c:autoTitleDeleted val="0"/>
    <c:pivotFmts>
      <c:pivotFmt>
        <c:idx val="0"/>
        <c:spPr>
          <a:solidFill>
            <a:schemeClr val="accent1"/>
          </a:solidFill>
          <a:ln>
            <a:noFill/>
          </a:ln>
          <a:effectLst/>
        </c:spPr>
        <c:marker>
          <c:symbol val="circle"/>
          <c:size val="8"/>
          <c:spPr>
            <a:solidFill>
              <a:schemeClr val="accent1"/>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7068507041087672E-2"/>
          <c:y val="0.13993396146842704"/>
          <c:w val="0.89983031030451022"/>
          <c:h val="0.72426481897702299"/>
        </c:manualLayout>
      </c:layout>
      <c:barChart>
        <c:barDir val="bar"/>
        <c:grouping val="clustered"/>
        <c:varyColors val="0"/>
        <c:ser>
          <c:idx val="0"/>
          <c:order val="0"/>
          <c:tx>
            <c:strRef>
              <c:f>Sheet1!$B$3</c:f>
              <c:strCache>
                <c:ptCount val="1"/>
                <c:pt idx="0">
                  <c:v>Total</c:v>
                </c:pt>
              </c:strCache>
            </c:strRef>
          </c:tx>
          <c:spPr>
            <a:solidFill>
              <a:schemeClr val="accent1"/>
            </a:solidFill>
            <a:ln>
              <a:noFill/>
            </a:ln>
            <a:effectLst/>
          </c:spPr>
          <c:invertIfNegative val="0"/>
          <c:cat>
            <c:strRef>
              <c:f>Sheet1!$A$4:$A$39</c:f>
              <c:strCache>
                <c:ptCount val="35"/>
                <c:pt idx="0">
                  <c:v>Road Frames</c:v>
                </c:pt>
                <c:pt idx="1">
                  <c:v>Jerseys</c:v>
                </c:pt>
                <c:pt idx="2">
                  <c:v>Caps</c:v>
                </c:pt>
                <c:pt idx="3">
                  <c:v>Touring Frames</c:v>
                </c:pt>
                <c:pt idx="4">
                  <c:v>Chains</c:v>
                </c:pt>
                <c:pt idx="5">
                  <c:v>Pumps</c:v>
                </c:pt>
                <c:pt idx="6">
                  <c:v>Locks</c:v>
                </c:pt>
                <c:pt idx="7">
                  <c:v>Cleaners</c:v>
                </c:pt>
                <c:pt idx="8">
                  <c:v>Socks</c:v>
                </c:pt>
                <c:pt idx="9">
                  <c:v>Bottom Brackets</c:v>
                </c:pt>
                <c:pt idx="10">
                  <c:v>Saddles</c:v>
                </c:pt>
                <c:pt idx="11">
                  <c:v>Headsets</c:v>
                </c:pt>
                <c:pt idx="12">
                  <c:v>Brakes</c:v>
                </c:pt>
                <c:pt idx="13">
                  <c:v>Derailleurs</c:v>
                </c:pt>
                <c:pt idx="14">
                  <c:v>Forks</c:v>
                </c:pt>
                <c:pt idx="15">
                  <c:v>Bike Stands</c:v>
                </c:pt>
                <c:pt idx="16">
                  <c:v>Fenders</c:v>
                </c:pt>
                <c:pt idx="17">
                  <c:v>Bottles and Cages</c:v>
                </c:pt>
                <c:pt idx="18">
                  <c:v>Pedals</c:v>
                </c:pt>
                <c:pt idx="19">
                  <c:v>Handlebars</c:v>
                </c:pt>
                <c:pt idx="20">
                  <c:v>Hydration Packs</c:v>
                </c:pt>
                <c:pt idx="21">
                  <c:v>Bib-Shorts</c:v>
                </c:pt>
                <c:pt idx="22">
                  <c:v>Cranksets</c:v>
                </c:pt>
                <c:pt idx="23">
                  <c:v>Tights</c:v>
                </c:pt>
                <c:pt idx="24">
                  <c:v>Gloves</c:v>
                </c:pt>
                <c:pt idx="25">
                  <c:v>Bike Racks</c:v>
                </c:pt>
                <c:pt idx="26">
                  <c:v>Vests</c:v>
                </c:pt>
                <c:pt idx="27">
                  <c:v>Tires and Tubes</c:v>
                </c:pt>
                <c:pt idx="28">
                  <c:v>Shorts</c:v>
                </c:pt>
                <c:pt idx="29">
                  <c:v>Wheels</c:v>
                </c:pt>
                <c:pt idx="30">
                  <c:v>Touring Bikes</c:v>
                </c:pt>
                <c:pt idx="31">
                  <c:v>Helmets</c:v>
                </c:pt>
                <c:pt idx="32">
                  <c:v>Mountain Frames</c:v>
                </c:pt>
                <c:pt idx="33">
                  <c:v>Road Bikes</c:v>
                </c:pt>
                <c:pt idx="34">
                  <c:v>Mountain Bikes</c:v>
                </c:pt>
              </c:strCache>
            </c:strRef>
          </c:cat>
          <c:val>
            <c:numRef>
              <c:f>Sheet1!$B$4:$B$39</c:f>
              <c:numCache>
                <c:formatCode>General</c:formatCode>
                <c:ptCount val="35"/>
                <c:pt idx="0">
                  <c:v>-172617.29079999999</c:v>
                </c:pt>
                <c:pt idx="1">
                  <c:v>-149887.15049999999</c:v>
                </c:pt>
                <c:pt idx="2">
                  <c:v>-6301.7921999999999</c:v>
                </c:pt>
                <c:pt idx="3">
                  <c:v>-5573.4107999999997</c:v>
                </c:pt>
                <c:pt idx="4">
                  <c:v>2422.0812000000001</c:v>
                </c:pt>
                <c:pt idx="5">
                  <c:v>4196.8193000000001</c:v>
                </c:pt>
                <c:pt idx="6">
                  <c:v>5030.5325000000003</c:v>
                </c:pt>
                <c:pt idx="7">
                  <c:v>8538.6056000000008</c:v>
                </c:pt>
                <c:pt idx="8">
                  <c:v>12163.3226</c:v>
                </c:pt>
                <c:pt idx="9">
                  <c:v>13474.820400000001</c:v>
                </c:pt>
                <c:pt idx="10">
                  <c:v>14476.555200000001</c:v>
                </c:pt>
                <c:pt idx="11">
                  <c:v>15448.041800000001</c:v>
                </c:pt>
                <c:pt idx="12">
                  <c:v>17077.701000000001</c:v>
                </c:pt>
                <c:pt idx="13">
                  <c:v>18147.479599999999</c:v>
                </c:pt>
                <c:pt idx="14">
                  <c:v>20187.088</c:v>
                </c:pt>
                <c:pt idx="15">
                  <c:v>24783.966</c:v>
                </c:pt>
                <c:pt idx="16">
                  <c:v>29183.8995</c:v>
                </c:pt>
                <c:pt idx="17">
                  <c:v>38233.695699999997</c:v>
                </c:pt>
                <c:pt idx="18">
                  <c:v>38250.964999999997</c:v>
                </c:pt>
                <c:pt idx="19">
                  <c:v>38510.661800000002</c:v>
                </c:pt>
                <c:pt idx="20">
                  <c:v>49042.861100000002</c:v>
                </c:pt>
                <c:pt idx="21">
                  <c:v>51555.804600000003</c:v>
                </c:pt>
                <c:pt idx="22">
                  <c:v>52778.808599999997</c:v>
                </c:pt>
                <c:pt idx="23">
                  <c:v>61195.705999999998</c:v>
                </c:pt>
                <c:pt idx="24">
                  <c:v>84714.6014</c:v>
                </c:pt>
                <c:pt idx="25">
                  <c:v>95006.076000000001</c:v>
                </c:pt>
                <c:pt idx="26">
                  <c:v>99467.671199999997</c:v>
                </c:pt>
                <c:pt idx="27">
                  <c:v>154048.67739999999</c:v>
                </c:pt>
                <c:pt idx="28">
                  <c:v>155974.10500000001</c:v>
                </c:pt>
                <c:pt idx="29">
                  <c:v>176044.86569999999</c:v>
                </c:pt>
                <c:pt idx="30">
                  <c:v>217277.74050000001</c:v>
                </c:pt>
                <c:pt idx="31">
                  <c:v>228329.14240000001</c:v>
                </c:pt>
                <c:pt idx="32">
                  <c:v>261604.80369999999</c:v>
                </c:pt>
                <c:pt idx="33">
                  <c:v>2811074.4171000002</c:v>
                </c:pt>
                <c:pt idx="34">
                  <c:v>4908041.8978000004</c:v>
                </c:pt>
              </c:numCache>
            </c:numRef>
          </c:val>
          <c:extLst>
            <c:ext xmlns:c16="http://schemas.microsoft.com/office/drawing/2014/chart" uri="{C3380CC4-5D6E-409C-BE32-E72D297353CC}">
              <c16:uniqueId val="{00000000-ABBB-413D-AA3C-76EF7D188497}"/>
            </c:ext>
          </c:extLst>
        </c:ser>
        <c:dLbls>
          <c:showLegendKey val="0"/>
          <c:showVal val="0"/>
          <c:showCatName val="0"/>
          <c:showSerName val="0"/>
          <c:showPercent val="0"/>
          <c:showBubbleSize val="0"/>
        </c:dLbls>
        <c:gapWidth val="269"/>
        <c:axId val="1094750655"/>
        <c:axId val="1094734815"/>
      </c:barChart>
      <c:catAx>
        <c:axId val="109475065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cap="none" spc="0" normalizeH="0" baseline="0">
                <a:solidFill>
                  <a:schemeClr val="tx1">
                    <a:lumMod val="65000"/>
                    <a:lumOff val="35000"/>
                  </a:schemeClr>
                </a:solidFill>
                <a:latin typeface="+mn-lt"/>
                <a:ea typeface="+mn-ea"/>
                <a:cs typeface="+mn-cs"/>
              </a:defRPr>
            </a:pPr>
            <a:endParaRPr lang="en-US"/>
          </a:p>
        </c:txPr>
        <c:crossAx val="1094734815"/>
        <c:crosses val="autoZero"/>
        <c:auto val="1"/>
        <c:lblAlgn val="ctr"/>
        <c:lblOffset val="100"/>
        <c:noMultiLvlLbl val="0"/>
      </c:catAx>
      <c:valAx>
        <c:axId val="1094734815"/>
        <c:scaling>
          <c:orientation val="minMax"/>
          <c:max val="600000"/>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4750655"/>
        <c:crosses val="autoZero"/>
        <c:crossBetween val="between"/>
        <c:dispUnits>
          <c:builtInUnit val="millions"/>
          <c:dispUnitsLbl>
            <c:spPr>
              <a:noFill/>
              <a:ln>
                <a:noFill/>
              </a:ln>
              <a:effectLst/>
            </c:spPr>
            <c:txPr>
              <a:bodyPr rot="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[Q3 result.csv]Sheet2!PivotTable2</c:name>
    <c:fmtId val="16"/>
  </c:pivotSource>
  <c:chart>
    <c:title>
      <c:tx>
        <c:rich>
          <a:bodyPr rot="0" spcFirstLastPara="1" vertOverflow="ellipsis" vert="horz" wrap="square" anchor="ctr" anchorCtr="1"/>
          <a:lstStyle/>
          <a:p>
            <a:pPr>
              <a:defRPr sz="1400" b="0" i="0" u="none" strike="noStrike" kern="1200" cap="none" spc="20" baseline="0">
                <a:solidFill>
                  <a:sysClr val="windowText" lastClr="000000"/>
                </a:solidFill>
                <a:latin typeface="+mn-lt"/>
                <a:ea typeface="+mn-ea"/>
                <a:cs typeface="+mn-cs"/>
              </a:defRPr>
            </a:pPr>
            <a:r>
              <a:rPr lang="en-IN"/>
              <a:t>TREND'S  OVER MONTHS</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ysClr val="windowText" lastClr="000000"/>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1"/>
            </a:solidFill>
            <a:ln w="9525" cap="flat" cmpd="sng" algn="ctr">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2"/>
            </a:solidFill>
            <a:ln w="9525" cap="flat" cmpd="sng" algn="ctr">
              <a:solidFill>
                <a:schemeClr val="accen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1"/>
            </a:solidFill>
            <a:ln w="9525" cap="flat" cmpd="sng" algn="ctr">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2"/>
            </a:solidFill>
            <a:ln w="9525" cap="flat" cmpd="sng" algn="ctr">
              <a:solidFill>
                <a:schemeClr val="accen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1"/>
            </a:solidFill>
            <a:ln w="9525" cap="flat" cmpd="sng" algn="ctr">
              <a:solidFill>
                <a:schemeClr val="accen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22225" cap="rnd" cmpd="sng" algn="ctr">
            <a:solidFill>
              <a:schemeClr val="accent1"/>
            </a:solidFill>
            <a:round/>
          </a:ln>
          <a:effectLst/>
        </c:spPr>
        <c:marker>
          <c:symbol val="circle"/>
          <c:size val="4"/>
          <c:spPr>
            <a:solidFill>
              <a:schemeClr val="accent2"/>
            </a:solidFill>
            <a:ln w="9525" cap="flat" cmpd="sng" algn="ctr">
              <a:solidFill>
                <a:schemeClr val="accen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1365753576577576E-2"/>
          <c:y val="0.14459134615384617"/>
          <c:w val="0.79492532623562895"/>
          <c:h val="0.75846046587926508"/>
        </c:manualLayout>
      </c:layout>
      <c:lineChart>
        <c:grouping val="standard"/>
        <c:varyColors val="0"/>
        <c:ser>
          <c:idx val="0"/>
          <c:order val="0"/>
          <c:tx>
            <c:strRef>
              <c:f>Sheet2!$B$3:$B$4</c:f>
              <c:strCache>
                <c:ptCount val="1"/>
                <c:pt idx="0">
                  <c:v>2023</c:v>
                </c:pt>
              </c:strCache>
            </c:strRef>
          </c:tx>
          <c:spPr>
            <a:ln w="22225" cap="rnd" cmpd="sng" algn="ctr">
              <a:solidFill>
                <a:schemeClr val="accent1"/>
              </a:solidFill>
              <a:round/>
            </a:ln>
            <a:effectLst/>
          </c:spPr>
          <c:marker>
            <c:symbol val="circle"/>
            <c:size val="4"/>
            <c:spPr>
              <a:solidFill>
                <a:schemeClr val="accent1"/>
              </a:solidFill>
              <a:ln w="9525" cap="flat" cmpd="sng" algn="ctr">
                <a:solidFill>
                  <a:schemeClr val="accent1"/>
                </a:solidFill>
                <a:round/>
              </a:ln>
              <a:effectLst/>
            </c:spPr>
          </c:marker>
          <c:cat>
            <c:strRef>
              <c:f>Sheet2!$A$5:$A$17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Sheet2!$B$5:$B$17</c:f>
              <c:numCache>
                <c:formatCode>General</c:formatCode>
                <c:ptCount val="12"/>
                <c:pt idx="0">
                  <c:v>2076791.6085999999</c:v>
                </c:pt>
                <c:pt idx="1">
                  <c:v>1449883.2017999999</c:v>
                </c:pt>
                <c:pt idx="2">
                  <c:v>2975748.2385</c:v>
                </c:pt>
                <c:pt idx="3">
                  <c:v>1634600.7984</c:v>
                </c:pt>
                <c:pt idx="4">
                  <c:v>3074602.8138000001</c:v>
                </c:pt>
                <c:pt idx="5">
                  <c:v>4099354.3572</c:v>
                </c:pt>
                <c:pt idx="6">
                  <c:v>3417953.8698999998</c:v>
                </c:pt>
                <c:pt idx="7">
                  <c:v>2175637.2179999999</c:v>
                </c:pt>
                <c:pt idx="8">
                  <c:v>3454151.9405</c:v>
                </c:pt>
                <c:pt idx="9">
                  <c:v>2544091.1055999999</c:v>
                </c:pt>
                <c:pt idx="10">
                  <c:v>1872701.9761999999</c:v>
                </c:pt>
                <c:pt idx="11">
                  <c:v>2829404.8188999998</c:v>
                </c:pt>
              </c:numCache>
            </c:numRef>
          </c:val>
          <c:smooth val="0"/>
          <c:extLst>
            <c:ext xmlns:c16="http://schemas.microsoft.com/office/drawing/2014/chart" uri="{C3380CC4-5D6E-409C-BE32-E72D297353CC}">
              <c16:uniqueId val="{00000000-1FFD-4F24-B7E1-687DBCF89ACF}"/>
            </c:ext>
          </c:extLst>
        </c:ser>
        <c:ser>
          <c:idx val="1"/>
          <c:order val="1"/>
          <c:tx>
            <c:strRef>
              <c:f>Sheet2!$C$3:$C$4</c:f>
              <c:strCache>
                <c:ptCount val="1"/>
                <c:pt idx="0">
                  <c:v>2024</c:v>
                </c:pt>
              </c:strCache>
            </c:strRef>
          </c:tx>
          <c:spPr>
            <a:ln w="22225" cap="rnd" cmpd="sng" algn="ctr">
              <a:solidFill>
                <a:schemeClr val="accent2"/>
              </a:solidFill>
              <a:round/>
            </a:ln>
            <a:effectLst/>
          </c:spPr>
          <c:marker>
            <c:symbol val="circle"/>
            <c:size val="4"/>
            <c:spPr>
              <a:solidFill>
                <a:schemeClr val="accent2"/>
              </a:solidFill>
              <a:ln w="9525" cap="flat" cmpd="sng" algn="ctr">
                <a:solidFill>
                  <a:schemeClr val="accent2"/>
                </a:solidFill>
                <a:round/>
              </a:ln>
              <a:effectLst/>
            </c:spPr>
          </c:marker>
          <c:cat>
            <c:strRef>
              <c:f>Sheet2!$A$5:$A$17</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Sheet2!$C$5:$C$17</c:f>
              <c:numCache>
                <c:formatCode>General</c:formatCode>
                <c:ptCount val="12"/>
                <c:pt idx="0">
                  <c:v>2087872.4623</c:v>
                </c:pt>
                <c:pt idx="1">
                  <c:v>2343260.2335000001</c:v>
                </c:pt>
                <c:pt idx="2">
                  <c:v>3407037.4116000002</c:v>
                </c:pt>
                <c:pt idx="3">
                  <c:v>2533057.4108000002</c:v>
                </c:pt>
                <c:pt idx="4">
                  <c:v>3258341.1307000001</c:v>
                </c:pt>
                <c:pt idx="5">
                  <c:v>5063798.3819000004</c:v>
                </c:pt>
                <c:pt idx="6">
                  <c:v>4918580.1886</c:v>
                </c:pt>
                <c:pt idx="7">
                  <c:v>3325296.0976999998</c:v>
                </c:pt>
                <c:pt idx="8">
                  <c:v>4539828.9954000004</c:v>
                </c:pt>
                <c:pt idx="9">
                  <c:v>4820725.3298000004</c:v>
                </c:pt>
                <c:pt idx="10">
                  <c:v>3291238.2856999999</c:v>
                </c:pt>
                <c:pt idx="11">
                  <c:v>4082853.5756999999</c:v>
                </c:pt>
              </c:numCache>
            </c:numRef>
          </c:val>
          <c:smooth val="0"/>
          <c:extLst>
            <c:ext xmlns:c16="http://schemas.microsoft.com/office/drawing/2014/chart" uri="{C3380CC4-5D6E-409C-BE32-E72D297353CC}">
              <c16:uniqueId val="{00000001-1FFD-4F24-B7E1-687DBCF89ACF}"/>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marker val="1"/>
        <c:smooth val="0"/>
        <c:axId val="973883263"/>
        <c:axId val="973874623"/>
      </c:lineChart>
      <c:catAx>
        <c:axId val="97388326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spc="20" baseline="0">
                <a:solidFill>
                  <a:sysClr val="windowText" lastClr="000000"/>
                </a:solidFill>
                <a:latin typeface="+mn-lt"/>
                <a:ea typeface="+mn-ea"/>
                <a:cs typeface="+mn-cs"/>
              </a:defRPr>
            </a:pPr>
            <a:endParaRPr lang="en-US"/>
          </a:p>
        </c:txPr>
        <c:crossAx val="973874623"/>
        <c:crosses val="autoZero"/>
        <c:auto val="1"/>
        <c:lblAlgn val="ctr"/>
        <c:lblOffset val="100"/>
        <c:noMultiLvlLbl val="0"/>
      </c:catAx>
      <c:valAx>
        <c:axId val="97387462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spc="20" baseline="0">
                <a:solidFill>
                  <a:sysClr val="windowText" lastClr="000000"/>
                </a:solidFill>
                <a:latin typeface="+mn-lt"/>
                <a:ea typeface="+mn-ea"/>
                <a:cs typeface="+mn-cs"/>
              </a:defRPr>
            </a:pPr>
            <a:endParaRPr lang="en-US"/>
          </a:p>
        </c:txPr>
        <c:crossAx val="973883263"/>
        <c:crosses val="autoZero"/>
        <c:crossBetween val="between"/>
        <c:dispUnits>
          <c:builtInUnit val="millions"/>
          <c:dispUnitsLbl>
            <c:layout>
              <c:manualLayout>
                <c:xMode val="edge"/>
                <c:yMode val="edge"/>
                <c:x val="1.7605633802816902E-2"/>
                <c:y val="0.40100160256410261"/>
              </c:manualLayout>
            </c:layout>
            <c:spPr>
              <a:noFill/>
              <a:ln>
                <a:noFill/>
              </a:ln>
              <a:effectLst/>
            </c:spPr>
            <c:txPr>
              <a:bodyPr rot="-5400000" spcFirstLastPara="1" vertOverflow="ellipsis" vert="horz" wrap="square" anchor="ctr" anchorCtr="1"/>
              <a:lstStyle/>
              <a:p>
                <a:pPr>
                  <a:defRPr sz="900" b="0" i="0" u="none" strike="noStrike" kern="1200" cap="all" baseline="0">
                    <a:solidFill>
                      <a:sysClr val="windowText" lastClr="000000"/>
                    </a:solidFill>
                    <a:latin typeface="+mn-lt"/>
                    <a:ea typeface="+mn-ea"/>
                    <a:cs typeface="+mn-cs"/>
                  </a:defRPr>
                </a:pPr>
                <a:endParaRPr lang="en-US"/>
              </a:p>
            </c:txPr>
          </c:dispUnitsLbl>
        </c:dispUnits>
      </c:valAx>
      <c:spPr>
        <a:gradFill>
          <a:gsLst>
            <a:gs pos="100000">
              <a:schemeClr val="lt1">
                <a:lumMod val="95000"/>
              </a:schemeClr>
            </a:gs>
            <a:gs pos="0">
              <a:schemeClr val="lt1"/>
            </a:gs>
          </a:gsLst>
          <a:lin ang="5400000" scaled="0"/>
        </a:grad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a:noFill/>
    </a:ln>
    <a:effectLst/>
  </c:spPr>
  <c:txPr>
    <a:bodyPr/>
    <a:lstStyle/>
    <a:p>
      <a:pPr>
        <a:defRPr>
          <a:solidFill>
            <a:sysClr val="windowText" lastClr="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[Question 11 result.csv]Sheet1!PivotTable1</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Sales</a:t>
            </a:r>
            <a:r>
              <a:rPr lang="en-IN" baseline="0"/>
              <a:t> Year over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Sheet1!$B$3:$B$4</c:f>
              <c:strCache>
                <c:ptCount val="1"/>
                <c:pt idx="0">
                  <c:v>2023</c:v>
                </c:pt>
              </c:strCache>
            </c:strRef>
          </c:tx>
          <c:spPr>
            <a:solidFill>
              <a:schemeClr val="accent1"/>
            </a:solidFill>
            <a:ln>
              <a:noFill/>
            </a:ln>
            <a:effectLst/>
          </c:spPr>
          <c:invertIfNegative val="0"/>
          <c:cat>
            <c:strRef>
              <c:f>Sheet1!$A$5:$A$15</c:f>
              <c:strCache>
                <c:ptCount val="10"/>
                <c:pt idx="0">
                  <c:v>Australia</c:v>
                </c:pt>
                <c:pt idx="1">
                  <c:v>Canada</c:v>
                </c:pt>
                <c:pt idx="2">
                  <c:v>Central</c:v>
                </c:pt>
                <c:pt idx="3">
                  <c:v>France</c:v>
                </c:pt>
                <c:pt idx="4">
                  <c:v>Germany</c:v>
                </c:pt>
                <c:pt idx="5">
                  <c:v>Northeast</c:v>
                </c:pt>
                <c:pt idx="6">
                  <c:v>Northwest</c:v>
                </c:pt>
                <c:pt idx="7">
                  <c:v>Southeast</c:v>
                </c:pt>
                <c:pt idx="8">
                  <c:v>Southwest</c:v>
                </c:pt>
                <c:pt idx="9">
                  <c:v>United Kingdom</c:v>
                </c:pt>
              </c:strCache>
            </c:strRef>
          </c:cat>
          <c:val>
            <c:numRef>
              <c:f>Sheet1!$B$5:$B$15</c:f>
              <c:numCache>
                <c:formatCode>General</c:formatCode>
                <c:ptCount val="10"/>
                <c:pt idx="0">
                  <c:v>571157.25789999997</c:v>
                </c:pt>
                <c:pt idx="1">
                  <c:v>3426256.2023999998</c:v>
                </c:pt>
                <c:pt idx="2">
                  <c:v>1557594.4251999999</c:v>
                </c:pt>
                <c:pt idx="3">
                  <c:v>1343335.1786</c:v>
                </c:pt>
                <c:pt idx="4">
                  <c:v>303210.19189999998</c:v>
                </c:pt>
                <c:pt idx="5">
                  <c:v>2017270.5696</c:v>
                </c:pt>
                <c:pt idx="6">
                  <c:v>1437253.2785</c:v>
                </c:pt>
                <c:pt idx="7">
                  <c:v>699506.72230000002</c:v>
                </c:pt>
                <c:pt idx="8">
                  <c:v>4476475.9472000003</c:v>
                </c:pt>
                <c:pt idx="9">
                  <c:v>1211810.5822999999</c:v>
                </c:pt>
              </c:numCache>
            </c:numRef>
          </c:val>
          <c:extLst>
            <c:ext xmlns:c16="http://schemas.microsoft.com/office/drawing/2014/chart" uri="{C3380CC4-5D6E-409C-BE32-E72D297353CC}">
              <c16:uniqueId val="{00000000-B08F-4456-9CA3-88D264C7B361}"/>
            </c:ext>
          </c:extLst>
        </c:ser>
        <c:ser>
          <c:idx val="1"/>
          <c:order val="1"/>
          <c:tx>
            <c:strRef>
              <c:f>Sheet1!$C$3:$C$4</c:f>
              <c:strCache>
                <c:ptCount val="1"/>
                <c:pt idx="0">
                  <c:v>2024</c:v>
                </c:pt>
              </c:strCache>
            </c:strRef>
          </c:tx>
          <c:spPr>
            <a:solidFill>
              <a:schemeClr val="accent2"/>
            </a:solidFill>
            <a:ln>
              <a:noFill/>
            </a:ln>
            <a:effectLst/>
          </c:spPr>
          <c:invertIfNegative val="0"/>
          <c:cat>
            <c:strRef>
              <c:f>Sheet1!$A$5:$A$15</c:f>
              <c:strCache>
                <c:ptCount val="10"/>
                <c:pt idx="0">
                  <c:v>Australia</c:v>
                </c:pt>
                <c:pt idx="1">
                  <c:v>Canada</c:v>
                </c:pt>
                <c:pt idx="2">
                  <c:v>Central</c:v>
                </c:pt>
                <c:pt idx="3">
                  <c:v>France</c:v>
                </c:pt>
                <c:pt idx="4">
                  <c:v>Germany</c:v>
                </c:pt>
                <c:pt idx="5">
                  <c:v>Northeast</c:v>
                </c:pt>
                <c:pt idx="6">
                  <c:v>Northwest</c:v>
                </c:pt>
                <c:pt idx="7">
                  <c:v>Southeast</c:v>
                </c:pt>
                <c:pt idx="8">
                  <c:v>Southwest</c:v>
                </c:pt>
                <c:pt idx="9">
                  <c:v>United Kingdom</c:v>
                </c:pt>
              </c:strCache>
            </c:strRef>
          </c:cat>
          <c:val>
            <c:numRef>
              <c:f>Sheet1!$C$5:$C$15</c:f>
              <c:numCache>
                <c:formatCode>General</c:formatCode>
                <c:ptCount val="10"/>
                <c:pt idx="0">
                  <c:v>2132402.1817999999</c:v>
                </c:pt>
                <c:pt idx="1">
                  <c:v>650361.9179</c:v>
                </c:pt>
                <c:pt idx="2">
                  <c:v>235968.72649999999</c:v>
                </c:pt>
                <c:pt idx="3">
                  <c:v>2259390.3908000002</c:v>
                </c:pt>
                <c:pt idx="4">
                  <c:v>2020198.6118999999</c:v>
                </c:pt>
                <c:pt idx="5">
                  <c:v>-142244.23069999999</c:v>
                </c:pt>
                <c:pt idx="6">
                  <c:v>1763797.3862999999</c:v>
                </c:pt>
                <c:pt idx="7">
                  <c:v>-251857.72200000001</c:v>
                </c:pt>
                <c:pt idx="8">
                  <c:v>1335608.0473</c:v>
                </c:pt>
                <c:pt idx="9">
                  <c:v>2063342.2464999999</c:v>
                </c:pt>
              </c:numCache>
            </c:numRef>
          </c:val>
          <c:extLst>
            <c:ext xmlns:c16="http://schemas.microsoft.com/office/drawing/2014/chart" uri="{C3380CC4-5D6E-409C-BE32-E72D297353CC}">
              <c16:uniqueId val="{00000001-B08F-4456-9CA3-88D264C7B361}"/>
            </c:ext>
          </c:extLst>
        </c:ser>
        <c:dLbls>
          <c:showLegendKey val="0"/>
          <c:showVal val="0"/>
          <c:showCatName val="0"/>
          <c:showSerName val="0"/>
          <c:showPercent val="0"/>
          <c:showBubbleSize val="0"/>
        </c:dLbls>
        <c:gapWidth val="182"/>
        <c:axId val="5163407"/>
        <c:axId val="2105219952"/>
      </c:barChart>
      <c:catAx>
        <c:axId val="516340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5219952"/>
        <c:crosses val="autoZero"/>
        <c:auto val="1"/>
        <c:lblAlgn val="ctr"/>
        <c:lblOffset val="100"/>
        <c:noMultiLvlLbl val="0"/>
      </c:catAx>
      <c:valAx>
        <c:axId val="21052199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163407"/>
        <c:crosses val="autoZero"/>
        <c:crossBetween val="between"/>
      </c:valAx>
      <c:spPr>
        <a:noFill/>
        <a:ln>
          <a:noFill/>
        </a:ln>
        <a:effectLst/>
      </c:spPr>
    </c:plotArea>
    <c:legend>
      <c:legendPos val="r"/>
      <c:layout>
        <c:manualLayout>
          <c:xMode val="edge"/>
          <c:yMode val="edge"/>
          <c:x val="0.75614918882734916"/>
          <c:y val="2.7861069576005159E-2"/>
          <c:w val="0.10581423915331602"/>
          <c:h val="8.161109136531678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[Question 12 result.csv]Sheet1!PivotTable2</c:name>
    <c:fmtId val="1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 orders placed </c:v>
                </c:pt>
              </c:strCache>
            </c:strRef>
          </c:tx>
          <c:spPr>
            <a:solidFill>
              <a:schemeClr val="accent1"/>
            </a:solidFill>
            <a:ln>
              <a:noFill/>
            </a:ln>
            <a:effectLst/>
          </c:spPr>
          <c:invertIfNegative val="0"/>
          <c:cat>
            <c:strRef>
              <c:f>Sheet1!$A$4:$A$14</c:f>
              <c:strCache>
                <c:ptCount val="10"/>
                <c:pt idx="0">
                  <c:v>Southwest</c:v>
                </c:pt>
                <c:pt idx="1">
                  <c:v>Canada</c:v>
                </c:pt>
                <c:pt idx="2">
                  <c:v>Northwest</c:v>
                </c:pt>
                <c:pt idx="3">
                  <c:v>Australia</c:v>
                </c:pt>
                <c:pt idx="4">
                  <c:v>United Kingdom</c:v>
                </c:pt>
                <c:pt idx="5">
                  <c:v>France</c:v>
                </c:pt>
                <c:pt idx="6">
                  <c:v>Germany</c:v>
                </c:pt>
                <c:pt idx="7">
                  <c:v>Southeast</c:v>
                </c:pt>
                <c:pt idx="8">
                  <c:v>Northeast</c:v>
                </c:pt>
                <c:pt idx="9">
                  <c:v>Central</c:v>
                </c:pt>
              </c:strCache>
            </c:strRef>
          </c:cat>
          <c:val>
            <c:numRef>
              <c:f>Sheet1!$B$4:$B$14</c:f>
              <c:numCache>
                <c:formatCode>General</c:formatCode>
                <c:ptCount val="10"/>
                <c:pt idx="0">
                  <c:v>25644</c:v>
                </c:pt>
                <c:pt idx="1">
                  <c:v>19064</c:v>
                </c:pt>
                <c:pt idx="2">
                  <c:v>16865</c:v>
                </c:pt>
                <c:pt idx="3">
                  <c:v>15058</c:v>
                </c:pt>
                <c:pt idx="4">
                  <c:v>10426</c:v>
                </c:pt>
                <c:pt idx="5">
                  <c:v>9088</c:v>
                </c:pt>
                <c:pt idx="6">
                  <c:v>7528</c:v>
                </c:pt>
                <c:pt idx="7">
                  <c:v>5976</c:v>
                </c:pt>
                <c:pt idx="8">
                  <c:v>5836</c:v>
                </c:pt>
                <c:pt idx="9">
                  <c:v>5832</c:v>
                </c:pt>
              </c:numCache>
            </c:numRef>
          </c:val>
          <c:extLst>
            <c:ext xmlns:c16="http://schemas.microsoft.com/office/drawing/2014/chart" uri="{C3380CC4-5D6E-409C-BE32-E72D297353CC}">
              <c16:uniqueId val="{00000000-6A69-4E92-B40D-74E3F58AC980}"/>
            </c:ext>
          </c:extLst>
        </c:ser>
        <c:dLbls>
          <c:showLegendKey val="0"/>
          <c:showVal val="0"/>
          <c:showCatName val="0"/>
          <c:showSerName val="0"/>
          <c:showPercent val="0"/>
          <c:showBubbleSize val="0"/>
        </c:dLbls>
        <c:gapWidth val="219"/>
        <c:overlap val="-27"/>
        <c:axId val="76434959"/>
        <c:axId val="2105182512"/>
      </c:barChart>
      <c:lineChart>
        <c:grouping val="standard"/>
        <c:varyColors val="0"/>
        <c:ser>
          <c:idx val="1"/>
          <c:order val="1"/>
          <c:tx>
            <c:strRef>
              <c:f>Sheet1!$C$3</c:f>
              <c:strCache>
                <c:ptCount val="1"/>
                <c:pt idx="0">
                  <c:v>Total Profit</c:v>
                </c:pt>
              </c:strCache>
            </c:strRef>
          </c:tx>
          <c:spPr>
            <a:ln w="28575" cap="rnd">
              <a:solidFill>
                <a:schemeClr val="accent2"/>
              </a:solidFill>
              <a:round/>
            </a:ln>
            <a:effectLst/>
          </c:spPr>
          <c:marker>
            <c:symbol val="none"/>
          </c:marker>
          <c:cat>
            <c:strRef>
              <c:f>Sheet1!$A$4:$A$14</c:f>
              <c:strCache>
                <c:ptCount val="10"/>
                <c:pt idx="0">
                  <c:v>Southwest</c:v>
                </c:pt>
                <c:pt idx="1">
                  <c:v>Canada</c:v>
                </c:pt>
                <c:pt idx="2">
                  <c:v>Northwest</c:v>
                </c:pt>
                <c:pt idx="3">
                  <c:v>Australia</c:v>
                </c:pt>
                <c:pt idx="4">
                  <c:v>United Kingdom</c:v>
                </c:pt>
                <c:pt idx="5">
                  <c:v>France</c:v>
                </c:pt>
                <c:pt idx="6">
                  <c:v>Germany</c:v>
                </c:pt>
                <c:pt idx="7">
                  <c:v>Southeast</c:v>
                </c:pt>
                <c:pt idx="8">
                  <c:v>Northeast</c:v>
                </c:pt>
                <c:pt idx="9">
                  <c:v>Central</c:v>
                </c:pt>
              </c:strCache>
            </c:strRef>
          </c:cat>
          <c:val>
            <c:numRef>
              <c:f>Sheet1!$C$4:$C$14</c:f>
              <c:numCache>
                <c:formatCode>General</c:formatCode>
                <c:ptCount val="10"/>
                <c:pt idx="0">
                  <c:v>1563696.32</c:v>
                </c:pt>
                <c:pt idx="1">
                  <c:v>404304.97</c:v>
                </c:pt>
                <c:pt idx="2">
                  <c:v>1364591.56</c:v>
                </c:pt>
                <c:pt idx="3">
                  <c:v>3434244.04</c:v>
                </c:pt>
                <c:pt idx="4">
                  <c:v>1231901.5900000001</c:v>
                </c:pt>
                <c:pt idx="5">
                  <c:v>893088.75</c:v>
                </c:pt>
                <c:pt idx="6">
                  <c:v>1043011.06</c:v>
                </c:pt>
                <c:pt idx="7">
                  <c:v>-151057.76999999999</c:v>
                </c:pt>
                <c:pt idx="8">
                  <c:v>-269493.90000000002</c:v>
                </c:pt>
                <c:pt idx="9">
                  <c:v>-142451.32999999999</c:v>
                </c:pt>
              </c:numCache>
            </c:numRef>
          </c:val>
          <c:smooth val="0"/>
          <c:extLst>
            <c:ext xmlns:c16="http://schemas.microsoft.com/office/drawing/2014/chart" uri="{C3380CC4-5D6E-409C-BE32-E72D297353CC}">
              <c16:uniqueId val="{00000001-6A69-4E92-B40D-74E3F58AC980}"/>
            </c:ext>
          </c:extLst>
        </c:ser>
        <c:dLbls>
          <c:showLegendKey val="0"/>
          <c:showVal val="0"/>
          <c:showCatName val="0"/>
          <c:showSerName val="0"/>
          <c:showPercent val="0"/>
          <c:showBubbleSize val="0"/>
        </c:dLbls>
        <c:marker val="1"/>
        <c:smooth val="0"/>
        <c:axId val="76430319"/>
        <c:axId val="2105182032"/>
      </c:lineChart>
      <c:catAx>
        <c:axId val="76434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05182512"/>
        <c:crosses val="autoZero"/>
        <c:auto val="1"/>
        <c:lblAlgn val="ctr"/>
        <c:lblOffset val="100"/>
        <c:noMultiLvlLbl val="0"/>
      </c:catAx>
      <c:valAx>
        <c:axId val="2105182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434959"/>
        <c:crosses val="autoZero"/>
        <c:crossBetween val="between"/>
      </c:valAx>
      <c:valAx>
        <c:axId val="2105182032"/>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430319"/>
        <c:crosses val="max"/>
        <c:crossBetween val="between"/>
      </c:valAx>
      <c:catAx>
        <c:axId val="76430319"/>
        <c:scaling>
          <c:orientation val="minMax"/>
        </c:scaling>
        <c:delete val="1"/>
        <c:axPos val="b"/>
        <c:numFmt formatCode="General" sourceLinked="1"/>
        <c:majorTickMark val="out"/>
        <c:minorTickMark val="none"/>
        <c:tickLblPos val="nextTo"/>
        <c:crossAx val="210518203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679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4A7"/>
          </a:solidFill>
          <a:ln w="12700">
            <a:solidFill>
              <a:srgbClr val="00C4A7"/>
            </a:solidFill>
            <a:prstDash val="solid"/>
          </a:ln>
        </p:spPr>
        <p:txBody>
          <a:bodyPr/>
          <a:lstStyle/>
          <a:p>
            <a:endParaRPr lang="en-IN"/>
          </a:p>
        </p:txBody>
      </p:sp>
      <p:sp>
        <p:nvSpPr>
          <p:cNvPr id="3" name="Shape 1"/>
          <p:cNvSpPr/>
          <p:nvPr/>
        </p:nvSpPr>
        <p:spPr>
          <a:xfrm>
            <a:off x="6217920" y="-457200"/>
            <a:ext cx="3840480" cy="3840480"/>
          </a:xfrm>
          <a:prstGeom prst="ellipse">
            <a:avLst/>
          </a:prstGeom>
          <a:solidFill>
            <a:srgbClr val="FFFFFF">
              <a:alpha val="4000"/>
            </a:srgbClr>
          </a:solidFill>
          <a:ln w="12700">
            <a:solidFill>
              <a:srgbClr val="FFFFFF">
                <a:alpha val="10000"/>
              </a:srgbClr>
            </a:solidFill>
            <a:prstDash val="solid"/>
          </a:ln>
        </p:spPr>
        <p:txBody>
          <a:bodyPr/>
          <a:lstStyle/>
          <a:p>
            <a:endParaRPr lang="en-IN"/>
          </a:p>
        </p:txBody>
      </p:sp>
      <p:sp>
        <p:nvSpPr>
          <p:cNvPr id="4" name="Shape 2"/>
          <p:cNvSpPr/>
          <p:nvPr/>
        </p:nvSpPr>
        <p:spPr>
          <a:xfrm>
            <a:off x="6766560" y="91440"/>
            <a:ext cx="2743200" cy="2743200"/>
          </a:xfrm>
          <a:prstGeom prst="ellipse">
            <a:avLst/>
          </a:prstGeom>
          <a:solidFill>
            <a:srgbClr val="00C4A7">
              <a:alpha val="10000"/>
            </a:srgbClr>
          </a:solidFill>
          <a:ln w="12700">
            <a:solidFill>
              <a:srgbClr val="00C4A7">
                <a:alpha val="15000"/>
              </a:srgbClr>
            </a:solidFill>
            <a:prstDash val="solid"/>
          </a:ln>
        </p:spPr>
        <p:txBody>
          <a:bodyPr/>
          <a:lstStyle/>
          <a:p>
            <a:endParaRPr lang="en-IN"/>
          </a:p>
        </p:txBody>
      </p:sp>
      <p:sp>
        <p:nvSpPr>
          <p:cNvPr id="5" name="Shape 3"/>
          <p:cNvSpPr/>
          <p:nvPr/>
        </p:nvSpPr>
        <p:spPr>
          <a:xfrm>
            <a:off x="502920" y="1097280"/>
            <a:ext cx="2011680" cy="347472"/>
          </a:xfrm>
          <a:prstGeom prst="roundRect">
            <a:avLst>
              <a:gd name="adj" fmla="val 15789"/>
            </a:avLst>
          </a:prstGeom>
          <a:solidFill>
            <a:srgbClr val="00C4A7">
              <a:alpha val="85000"/>
            </a:srgbClr>
          </a:solidFill>
          <a:ln w="12700">
            <a:solidFill>
              <a:srgbClr val="00C4A7"/>
            </a:solidFill>
            <a:prstDash val="solid"/>
          </a:ln>
        </p:spPr>
        <p:txBody>
          <a:bodyPr/>
          <a:lstStyle/>
          <a:p>
            <a:endParaRPr lang="en-IN"/>
          </a:p>
        </p:txBody>
      </p:sp>
      <p:sp>
        <p:nvSpPr>
          <p:cNvPr id="6" name="Text 4"/>
          <p:cNvSpPr/>
          <p:nvPr/>
        </p:nvSpPr>
        <p:spPr>
          <a:xfrm>
            <a:off x="502920" y="1097280"/>
            <a:ext cx="2011680" cy="347472"/>
          </a:xfrm>
          <a:prstGeom prst="rect">
            <a:avLst/>
          </a:prstGeom>
          <a:noFill/>
          <a:ln/>
        </p:spPr>
        <p:txBody>
          <a:bodyPr wrap="square" lIns="0" tIns="0" rIns="0" bIns="0" rtlCol="0" anchor="ctr"/>
          <a:lstStyle/>
          <a:p>
            <a:pPr marL="0" indent="0" algn="ctr">
              <a:buNone/>
            </a:pPr>
            <a:r>
              <a:rPr lang="en-US" sz="900" b="1" dirty="0">
                <a:solidFill>
                  <a:srgbClr val="0F1B2D"/>
                </a:solidFill>
              </a:rPr>
              <a:t>SQL ANALYSIS REPORT</a:t>
            </a:r>
            <a:endParaRPr lang="en-US" sz="900" dirty="0"/>
          </a:p>
        </p:txBody>
      </p:sp>
      <p:sp>
        <p:nvSpPr>
          <p:cNvPr id="7" name="Text 5"/>
          <p:cNvSpPr/>
          <p:nvPr/>
        </p:nvSpPr>
        <p:spPr>
          <a:xfrm>
            <a:off x="502920" y="1572768"/>
            <a:ext cx="6858000" cy="1645920"/>
          </a:xfrm>
          <a:prstGeom prst="rect">
            <a:avLst/>
          </a:prstGeom>
          <a:noFill/>
          <a:ln/>
        </p:spPr>
        <p:txBody>
          <a:bodyPr wrap="square" rtlCol="0" anchor="t"/>
          <a:lstStyle/>
          <a:p>
            <a:pPr marL="0" indent="0">
              <a:buNone/>
            </a:pPr>
            <a:r>
              <a:rPr lang="en-US" sz="4400" b="1" dirty="0">
                <a:solidFill>
                  <a:srgbClr val="FFFFFF"/>
                </a:solidFill>
                <a:latin typeface="Cambria" pitchFamily="34" charset="0"/>
                <a:ea typeface="Cambria" pitchFamily="34" charset="-122"/>
              </a:rPr>
              <a:t>Adventure works</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Data Analysis</a:t>
            </a:r>
            <a:endParaRPr lang="en-US" sz="4400" dirty="0"/>
          </a:p>
        </p:txBody>
      </p:sp>
      <p:sp>
        <p:nvSpPr>
          <p:cNvPr id="8" name="Text 6"/>
          <p:cNvSpPr/>
          <p:nvPr/>
        </p:nvSpPr>
        <p:spPr>
          <a:xfrm>
            <a:off x="502920" y="3291840"/>
            <a:ext cx="5426612" cy="411480"/>
          </a:xfrm>
          <a:prstGeom prst="rect">
            <a:avLst/>
          </a:prstGeom>
          <a:noFill/>
          <a:ln/>
        </p:spPr>
        <p:txBody>
          <a:bodyPr wrap="square" rtlCol="0" anchor="ctr"/>
          <a:lstStyle/>
          <a:p>
            <a:pPr marL="0" indent="0" algn="ctr">
              <a:buNone/>
            </a:pPr>
            <a:r>
              <a:rPr lang="en-US" i="1" dirty="0">
                <a:solidFill>
                  <a:srgbClr val="4FC3F7"/>
                </a:solidFill>
                <a:latin typeface="Calibri" pitchFamily="34" charset="0"/>
                <a:ea typeface="Calibri" pitchFamily="34" charset="-122"/>
                <a:cs typeface="Calibri" pitchFamily="34" charset="-120"/>
              </a:rPr>
              <a:t>Adventure works </a:t>
            </a:r>
            <a:endParaRPr lang="en-US" dirty="0"/>
          </a:p>
        </p:txBody>
      </p:sp>
      <p:sp>
        <p:nvSpPr>
          <p:cNvPr id="9" name="Text 7"/>
          <p:cNvSpPr/>
          <p:nvPr/>
        </p:nvSpPr>
        <p:spPr>
          <a:xfrm>
            <a:off x="502920" y="4114800"/>
            <a:ext cx="8229600" cy="320040"/>
          </a:xfrm>
          <a:prstGeom prst="rect">
            <a:avLst/>
          </a:prstGeom>
          <a:noFill/>
          <a:ln/>
        </p:spPr>
        <p:txBody>
          <a:bodyPr wrap="square" rtlCol="0" anchor="ctr"/>
          <a:lstStyle/>
          <a:p>
            <a:pPr marL="0" indent="0">
              <a:buNone/>
            </a:pPr>
            <a:r>
              <a:rPr lang="en-US" sz="1000" dirty="0">
                <a:solidFill>
                  <a:srgbClr val="7B9BB5"/>
                </a:solidFill>
                <a:latin typeface="Calibri" pitchFamily="34" charset="0"/>
                <a:ea typeface="Calibri" pitchFamily="34" charset="-122"/>
                <a:cs typeface="Calibri" pitchFamily="34" charset="-120"/>
              </a:rPr>
              <a:t>Prepared by: Shiva Keshav  |  Role: Data Analysis  |  Tool: SQL  | </a:t>
            </a:r>
            <a:endParaRPr lang="en-US" sz="1000" dirty="0"/>
          </a:p>
        </p:txBody>
      </p:sp>
      <p:sp>
        <p:nvSpPr>
          <p:cNvPr id="10" name="Shape 8"/>
          <p:cNvSpPr/>
          <p:nvPr/>
        </p:nvSpPr>
        <p:spPr>
          <a:xfrm>
            <a:off x="502920" y="4572000"/>
            <a:ext cx="8138160" cy="0"/>
          </a:xfrm>
          <a:prstGeom prst="line">
            <a:avLst/>
          </a:prstGeom>
          <a:noFill/>
          <a:ln w="12700">
            <a:solidFill>
              <a:srgbClr val="1E4060"/>
            </a:solidFill>
            <a:prstDash val="solid"/>
          </a:ln>
        </p:spPr>
        <p:txBody>
          <a:bodyPr/>
          <a:lstStyle/>
          <a:p>
            <a:endParaRPr lang="en-IN"/>
          </a:p>
        </p:txBody>
      </p:sp>
      <p:sp>
        <p:nvSpPr>
          <p:cNvPr id="11" name="Text 9"/>
          <p:cNvSpPr/>
          <p:nvPr/>
        </p:nvSpPr>
        <p:spPr>
          <a:xfrm>
            <a:off x="502920" y="4617720"/>
            <a:ext cx="8229600" cy="274320"/>
          </a:xfrm>
          <a:prstGeom prst="rect">
            <a:avLst/>
          </a:prstGeom>
          <a:noFill/>
          <a:ln/>
        </p:spPr>
        <p:txBody>
          <a:bodyPr wrap="square" rtlCol="0" anchor="ctr"/>
          <a:lstStyle/>
          <a:p>
            <a:pPr marL="0" indent="0" algn="r">
              <a:buNone/>
            </a:pPr>
            <a:r>
              <a:rPr lang="en-US" sz="900" dirty="0">
                <a:solidFill>
                  <a:srgbClr val="7B9BB5"/>
                </a:solidFill>
              </a:rPr>
              <a:t>Shiva keshav Thatipelly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5A759009-E98F-450B-E077-98E23689ABA2}"/>
              </a:ext>
            </a:extLst>
          </p:cNvPr>
          <p:cNvSpPr/>
          <p:nvPr/>
        </p:nvSpPr>
        <p:spPr>
          <a:xfrm>
            <a:off x="0" y="0"/>
            <a:ext cx="9144000" cy="464234"/>
          </a:xfrm>
          <a:prstGeom prst="rect">
            <a:avLst/>
          </a:prstGeom>
          <a:solidFill>
            <a:srgbClr val="0F1B2D"/>
          </a:solidFill>
          <a:ln w="12700">
            <a:solidFill>
              <a:srgbClr val="0F1B2D"/>
            </a:solidFill>
            <a:prstDash val="solid"/>
          </a:ln>
        </p:spPr>
        <p:txBody>
          <a:bodyPr/>
          <a:lstStyle/>
          <a:p>
            <a:pPr algn="ctr"/>
            <a:r>
              <a:rPr lang="en-IN" b="1" dirty="0">
                <a:solidFill>
                  <a:schemeClr val="bg1"/>
                </a:solidFill>
              </a:rPr>
              <a:t>Adventure Works Project: Business Questions</a:t>
            </a:r>
          </a:p>
        </p:txBody>
      </p:sp>
      <p:sp>
        <p:nvSpPr>
          <p:cNvPr id="5" name="Shape 32">
            <a:extLst>
              <a:ext uri="{FF2B5EF4-FFF2-40B4-BE49-F238E27FC236}">
                <a16:creationId xmlns:a16="http://schemas.microsoft.com/office/drawing/2014/main" id="{34549064-D5B4-DAE1-02C9-5E4AEA89DD0B}"/>
              </a:ext>
            </a:extLst>
          </p:cNvPr>
          <p:cNvSpPr/>
          <p:nvPr/>
        </p:nvSpPr>
        <p:spPr>
          <a:xfrm>
            <a:off x="0" y="0"/>
            <a:ext cx="54864" cy="46423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56088FED-07C8-AF45-CF7C-81AB8AC83383}"/>
              </a:ext>
            </a:extLst>
          </p:cNvPr>
          <p:cNvSpPr/>
          <p:nvPr/>
        </p:nvSpPr>
        <p:spPr>
          <a:xfrm>
            <a:off x="182880" y="0"/>
            <a:ext cx="8046720" cy="603504"/>
          </a:xfrm>
          <a:prstGeom prst="rect">
            <a:avLst/>
          </a:prstGeom>
          <a:noFill/>
          <a:ln/>
        </p:spPr>
        <p:txBody>
          <a:bodyPr wrap="square" lIns="0" tIns="0" rIns="0" bIns="0" rtlCol="0" anchor="ctr"/>
          <a:lstStyle/>
          <a:p>
            <a:pPr marL="0" indent="0">
              <a:buNone/>
            </a:pPr>
            <a:endParaRPr lang="en-US" sz="1300" dirty="0"/>
          </a:p>
        </p:txBody>
      </p:sp>
      <p:sp>
        <p:nvSpPr>
          <p:cNvPr id="9" name="Text 34">
            <a:extLst>
              <a:ext uri="{FF2B5EF4-FFF2-40B4-BE49-F238E27FC236}">
                <a16:creationId xmlns:a16="http://schemas.microsoft.com/office/drawing/2014/main" id="{9E792B3C-4D3E-A5D9-3C6C-AC25C511A731}"/>
              </a:ext>
            </a:extLst>
          </p:cNvPr>
          <p:cNvSpPr/>
          <p:nvPr/>
        </p:nvSpPr>
        <p:spPr>
          <a:xfrm>
            <a:off x="8321040" y="0"/>
            <a:ext cx="640080" cy="603504"/>
          </a:xfrm>
          <a:prstGeom prst="rect">
            <a:avLst/>
          </a:prstGeom>
          <a:noFill/>
          <a:ln/>
        </p:spPr>
        <p:txBody>
          <a:bodyPr wrap="square" lIns="0" tIns="0" rIns="0" bIns="0" rtlCol="0" anchor="ctr"/>
          <a:lstStyle/>
          <a:p>
            <a:pPr marL="0" indent="0" algn="r">
              <a:buNone/>
            </a:pPr>
            <a:endParaRPr lang="en-US" sz="1000" dirty="0"/>
          </a:p>
        </p:txBody>
      </p:sp>
      <p:sp>
        <p:nvSpPr>
          <p:cNvPr id="15" name="TextBox 14">
            <a:extLst>
              <a:ext uri="{FF2B5EF4-FFF2-40B4-BE49-F238E27FC236}">
                <a16:creationId xmlns:a16="http://schemas.microsoft.com/office/drawing/2014/main" id="{89878597-B567-6167-23E1-F08004A67AD7}"/>
              </a:ext>
            </a:extLst>
          </p:cNvPr>
          <p:cNvSpPr txBox="1"/>
          <p:nvPr/>
        </p:nvSpPr>
        <p:spPr>
          <a:xfrm>
            <a:off x="5619121" y="3151169"/>
            <a:ext cx="3988191" cy="1477328"/>
          </a:xfrm>
          <a:prstGeom prst="rect">
            <a:avLst/>
          </a:prstGeom>
          <a:noFill/>
        </p:spPr>
        <p:txBody>
          <a:bodyPr wrap="square" rtlCol="0">
            <a:spAutoFit/>
          </a:bodyPr>
          <a:lstStyle/>
          <a:p>
            <a:r>
              <a:rPr lang="en-IN" sz="1600" u="sng" dirty="0">
                <a:solidFill>
                  <a:schemeClr val="bg1"/>
                </a:solidFill>
              </a:rPr>
              <a:t>DATASE SUMMARY</a:t>
            </a:r>
            <a:r>
              <a:rPr lang="en-IN" sz="1600" dirty="0">
                <a:solidFill>
                  <a:schemeClr val="bg1"/>
                </a:solidFill>
              </a:rPr>
              <a:t> </a:t>
            </a:r>
            <a:r>
              <a:rPr lang="en-IN" dirty="0">
                <a:solidFill>
                  <a:schemeClr val="bg1"/>
                </a:solidFill>
              </a:rPr>
              <a:t>:</a:t>
            </a:r>
          </a:p>
          <a:p>
            <a:r>
              <a:rPr lang="en-IN" sz="1200" dirty="0">
                <a:solidFill>
                  <a:schemeClr val="bg1"/>
                </a:solidFill>
              </a:rPr>
              <a:t>• Total Orders: 31,465</a:t>
            </a:r>
            <a:br>
              <a:rPr lang="en-IN" sz="1200" dirty="0">
                <a:solidFill>
                  <a:schemeClr val="bg1"/>
                </a:solidFill>
              </a:rPr>
            </a:br>
            <a:r>
              <a:rPr lang="en-IN" sz="1200" dirty="0">
                <a:solidFill>
                  <a:schemeClr val="bg1"/>
                </a:solidFill>
              </a:rPr>
              <a:t>• Total Sales: 109.8M</a:t>
            </a:r>
            <a:br>
              <a:rPr lang="en-IN" sz="1200" dirty="0">
                <a:solidFill>
                  <a:schemeClr val="bg1"/>
                </a:solidFill>
              </a:rPr>
            </a:br>
            <a:r>
              <a:rPr lang="en-IN" sz="1200" dirty="0">
                <a:solidFill>
                  <a:schemeClr val="bg1"/>
                </a:solidFill>
              </a:rPr>
              <a:t>• Average Order Value: 3,491</a:t>
            </a:r>
            <a:br>
              <a:rPr lang="en-IN" sz="1200" dirty="0">
                <a:solidFill>
                  <a:schemeClr val="bg1"/>
                </a:solidFill>
              </a:rPr>
            </a:br>
            <a:r>
              <a:rPr lang="en-IN" sz="1200" dirty="0">
                <a:solidFill>
                  <a:schemeClr val="bg1"/>
                </a:solidFill>
              </a:rPr>
              <a:t>• Total Products: 504</a:t>
            </a:r>
            <a:br>
              <a:rPr lang="en-IN" sz="1200" dirty="0">
                <a:solidFill>
                  <a:schemeClr val="bg1"/>
                </a:solidFill>
              </a:rPr>
            </a:br>
            <a:r>
              <a:rPr lang="en-IN" sz="1200" dirty="0">
                <a:solidFill>
                  <a:schemeClr val="bg1"/>
                </a:solidFill>
              </a:rPr>
              <a:t>• Total Customers: 19,820</a:t>
            </a:r>
            <a:br>
              <a:rPr lang="en-IN" sz="1200" dirty="0">
                <a:solidFill>
                  <a:schemeClr val="bg1"/>
                </a:solidFill>
              </a:rPr>
            </a:br>
            <a:r>
              <a:rPr lang="en-IN" sz="1200" dirty="0">
                <a:solidFill>
                  <a:schemeClr val="bg1"/>
                </a:solidFill>
              </a:rPr>
              <a:t>• Total Profit: 9.37M</a:t>
            </a:r>
          </a:p>
        </p:txBody>
      </p:sp>
      <p:sp>
        <p:nvSpPr>
          <p:cNvPr id="35" name="TextBox 34">
            <a:extLst>
              <a:ext uri="{FF2B5EF4-FFF2-40B4-BE49-F238E27FC236}">
                <a16:creationId xmlns:a16="http://schemas.microsoft.com/office/drawing/2014/main" id="{35D10422-FD1E-8C96-2EED-C07DBB85D159}"/>
              </a:ext>
            </a:extLst>
          </p:cNvPr>
          <p:cNvSpPr txBox="1"/>
          <p:nvPr/>
        </p:nvSpPr>
        <p:spPr>
          <a:xfrm>
            <a:off x="54864" y="763068"/>
            <a:ext cx="9089135" cy="3693319"/>
          </a:xfrm>
          <a:prstGeom prst="rect">
            <a:avLst/>
          </a:prstGeom>
          <a:noFill/>
        </p:spPr>
        <p:txBody>
          <a:bodyPr wrap="square">
            <a:spAutoFit/>
          </a:bodyPr>
          <a:lstStyle/>
          <a:p>
            <a:pPr>
              <a:buNone/>
            </a:pPr>
            <a:r>
              <a:rPr lang="en-IN" b="1" dirty="0"/>
              <a:t>Q1.</a:t>
            </a:r>
            <a:r>
              <a:rPr lang="en-IN" dirty="0"/>
              <a:t> Overview</a:t>
            </a:r>
          </a:p>
          <a:p>
            <a:pPr>
              <a:buNone/>
            </a:pPr>
            <a:r>
              <a:rPr lang="en-IN" b="1" dirty="0"/>
              <a:t>Q2.</a:t>
            </a:r>
            <a:r>
              <a:rPr lang="en-IN" dirty="0"/>
              <a:t> Which product categories generate the highest revenue and profit?</a:t>
            </a:r>
          </a:p>
          <a:p>
            <a:pPr>
              <a:buNone/>
            </a:pPr>
            <a:r>
              <a:rPr lang="en-IN" b="1" dirty="0"/>
              <a:t>Q3.</a:t>
            </a:r>
            <a:r>
              <a:rPr lang="en-IN" dirty="0"/>
              <a:t> Which product subcategories have high sales but low profit margins?</a:t>
            </a:r>
          </a:p>
          <a:p>
            <a:pPr>
              <a:buNone/>
            </a:pPr>
            <a:r>
              <a:rPr lang="en-IN" b="1" dirty="0"/>
              <a:t>Q4.</a:t>
            </a:r>
            <a:r>
              <a:rPr lang="en-IN" dirty="0"/>
              <a:t> How has monthly revenue changed over time and where are the major growth or decline      periods?</a:t>
            </a:r>
          </a:p>
          <a:p>
            <a:pPr>
              <a:buNone/>
            </a:pPr>
            <a:r>
              <a:rPr lang="en-IN" b="1" dirty="0"/>
              <a:t>Q5.</a:t>
            </a:r>
            <a:r>
              <a:rPr lang="en-IN" dirty="0"/>
              <a:t> Which territories contribute the most revenue and profit?</a:t>
            </a:r>
          </a:p>
          <a:p>
            <a:pPr>
              <a:buNone/>
            </a:pPr>
            <a:r>
              <a:rPr lang="en-IN" b="1" dirty="0"/>
              <a:t>Q6.</a:t>
            </a:r>
            <a:r>
              <a:rPr lang="en-IN" dirty="0"/>
              <a:t> Who are the top 10 customers by lifetime value (LTV)?</a:t>
            </a:r>
          </a:p>
          <a:p>
            <a:pPr>
              <a:buNone/>
            </a:pPr>
            <a:r>
              <a:rPr lang="en-IN" b="1" dirty="0"/>
              <a:t>Q7.</a:t>
            </a:r>
            <a:r>
              <a:rPr lang="en-IN" dirty="0"/>
              <a:t> What percentage of total revenue comes from the top 20% of customers?</a:t>
            </a:r>
          </a:p>
          <a:p>
            <a:pPr>
              <a:buNone/>
            </a:pPr>
            <a:r>
              <a:rPr lang="en-IN" b="1" dirty="0"/>
              <a:t>Q8.</a:t>
            </a:r>
            <a:r>
              <a:rPr lang="en-IN" dirty="0"/>
              <a:t> Which customer segments generate the highest average order value?</a:t>
            </a:r>
          </a:p>
          <a:p>
            <a:pPr>
              <a:buNone/>
            </a:pPr>
            <a:r>
              <a:rPr lang="en-IN" b="1" dirty="0"/>
              <a:t>Q9.</a:t>
            </a:r>
            <a:r>
              <a:rPr lang="en-IN" dirty="0"/>
              <a:t> Which products generate the highest profit, not just revenue?</a:t>
            </a:r>
          </a:p>
          <a:p>
            <a:r>
              <a:rPr lang="en-IN" b="1" dirty="0"/>
              <a:t>Q10.</a:t>
            </a:r>
            <a:r>
              <a:rPr lang="en-IN" dirty="0"/>
              <a:t> Which products has low sales in the top category</a:t>
            </a:r>
          </a:p>
          <a:p>
            <a:pPr>
              <a:buNone/>
            </a:pPr>
            <a:r>
              <a:rPr lang="en-IN" b="1" dirty="0"/>
              <a:t>Q11.</a:t>
            </a:r>
            <a:r>
              <a:rPr lang="en-IN" dirty="0"/>
              <a:t> Which territories show the highest revenue growth rate year-over-year?</a:t>
            </a:r>
          </a:p>
          <a:p>
            <a:pPr>
              <a:buNone/>
            </a:pPr>
            <a:r>
              <a:rPr lang="en-IN" b="1" dirty="0"/>
              <a:t>Q12.</a:t>
            </a:r>
            <a:r>
              <a:rPr lang="en-IN" dirty="0"/>
              <a:t> Are there territories with high order volume but low profitability?</a:t>
            </a:r>
          </a:p>
        </p:txBody>
      </p:sp>
      <p:graphicFrame>
        <p:nvGraphicFramePr>
          <p:cNvPr id="36" name="Table 35">
            <a:extLst>
              <a:ext uri="{FF2B5EF4-FFF2-40B4-BE49-F238E27FC236}">
                <a16:creationId xmlns:a16="http://schemas.microsoft.com/office/drawing/2014/main" id="{CDFC5573-4655-8B21-3F0B-3137B0D52405}"/>
              </a:ext>
            </a:extLst>
          </p:cNvPr>
          <p:cNvGraphicFramePr>
            <a:graphicFrameLocks noGrp="1"/>
          </p:cNvGraphicFramePr>
          <p:nvPr>
            <p:extLst>
              <p:ext uri="{D42A27DB-BD31-4B8C-83A1-F6EECF244321}">
                <p14:modId xmlns:p14="http://schemas.microsoft.com/office/powerpoint/2010/main" val="1196374899"/>
              </p:ext>
            </p:extLst>
          </p:nvPr>
        </p:nvGraphicFramePr>
        <p:xfrm>
          <a:off x="27432" y="735916"/>
          <a:ext cx="9073661" cy="3671668"/>
        </p:xfrm>
        <a:graphic>
          <a:graphicData uri="http://schemas.openxmlformats.org/drawingml/2006/table">
            <a:tbl>
              <a:tblPr/>
              <a:tblGrid>
                <a:gridCol w="9073661">
                  <a:extLst>
                    <a:ext uri="{9D8B030D-6E8A-4147-A177-3AD203B41FA5}">
                      <a16:colId xmlns:a16="http://schemas.microsoft.com/office/drawing/2014/main" val="1037568019"/>
                    </a:ext>
                  </a:extLst>
                </a:gridCol>
              </a:tblGrid>
              <a:tr h="3671668">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868375812"/>
                  </a:ext>
                </a:extLst>
              </a:tr>
            </a:tbl>
          </a:graphicData>
        </a:graphic>
      </p:graphicFrame>
    </p:spTree>
    <p:extLst>
      <p:ext uri="{BB962C8B-B14F-4D97-AF65-F5344CB8AC3E}">
        <p14:creationId xmlns:p14="http://schemas.microsoft.com/office/powerpoint/2010/main" val="1030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AFB"/>
        </a:solidFill>
        <a:effectLst/>
      </p:bgPr>
    </p:bg>
    <p:spTree>
      <p:nvGrpSpPr>
        <p:cNvPr id="1" name=""/>
        <p:cNvGrpSpPr/>
        <p:nvPr/>
      </p:nvGrpSpPr>
      <p:grpSpPr>
        <a:xfrm>
          <a:off x="0" y="0"/>
          <a:ext cx="0" cy="0"/>
          <a:chOff x="0" y="0"/>
          <a:chExt cx="0" cy="0"/>
        </a:xfrm>
      </p:grpSpPr>
      <p:sp>
        <p:nvSpPr>
          <p:cNvPr id="33" name="Shape 31"/>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a:p>
        </p:txBody>
      </p:sp>
      <p:sp>
        <p:nvSpPr>
          <p:cNvPr id="34" name="Shape 32"/>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35" name="Text 33"/>
          <p:cNvSpPr/>
          <p:nvPr/>
        </p:nvSpPr>
        <p:spPr>
          <a:xfrm>
            <a:off x="182880" y="0"/>
            <a:ext cx="8046720" cy="60350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Q1    OVERVIEW OF  THE DATA </a:t>
            </a:r>
            <a:endParaRPr lang="en-US" sz="1300" dirty="0"/>
          </a:p>
        </p:txBody>
      </p:sp>
      <p:sp>
        <p:nvSpPr>
          <p:cNvPr id="36" name="Text 34"/>
          <p:cNvSpPr/>
          <p:nvPr/>
        </p:nvSpPr>
        <p:spPr>
          <a:xfrm>
            <a:off x="8321040" y="0"/>
            <a:ext cx="640080" cy="603504"/>
          </a:xfrm>
          <a:prstGeom prst="rect">
            <a:avLst/>
          </a:prstGeom>
          <a:noFill/>
          <a:ln/>
        </p:spPr>
        <p:txBody>
          <a:bodyPr wrap="square" lIns="0" tIns="0" rIns="0" bIns="0" rtlCol="0" anchor="ctr"/>
          <a:lstStyle/>
          <a:p>
            <a:pPr marL="0" indent="0" algn="r">
              <a:buNone/>
            </a:pPr>
            <a:endParaRPr lang="en-US" sz="1000" dirty="0"/>
          </a:p>
        </p:txBody>
      </p:sp>
      <p:pic>
        <p:nvPicPr>
          <p:cNvPr id="532" name="Picture 531">
            <a:extLst>
              <a:ext uri="{FF2B5EF4-FFF2-40B4-BE49-F238E27FC236}">
                <a16:creationId xmlns:a16="http://schemas.microsoft.com/office/drawing/2014/main" id="{2637CE5F-20C7-5826-D4E8-39CC8E3BE824}"/>
              </a:ext>
            </a:extLst>
          </p:cNvPr>
          <p:cNvPicPr>
            <a:picLocks noChangeAspect="1"/>
          </p:cNvPicPr>
          <p:nvPr/>
        </p:nvPicPr>
        <p:blipFill>
          <a:blip r:embed="rId3"/>
          <a:stretch>
            <a:fillRect/>
          </a:stretch>
        </p:blipFill>
        <p:spPr>
          <a:xfrm>
            <a:off x="5492519" y="673843"/>
            <a:ext cx="3391237" cy="1968246"/>
          </a:xfrm>
          <a:prstGeom prst="rect">
            <a:avLst/>
          </a:prstGeom>
          <a:ln>
            <a:solidFill>
              <a:schemeClr val="tx1"/>
            </a:solidFill>
          </a:ln>
        </p:spPr>
      </p:pic>
      <p:sp>
        <p:nvSpPr>
          <p:cNvPr id="535" name="Rectangle 534">
            <a:extLst>
              <a:ext uri="{FF2B5EF4-FFF2-40B4-BE49-F238E27FC236}">
                <a16:creationId xmlns:a16="http://schemas.microsoft.com/office/drawing/2014/main" id="{79B25C66-9AD1-0ADA-351F-55751EEC754B}"/>
              </a:ext>
            </a:extLst>
          </p:cNvPr>
          <p:cNvSpPr/>
          <p:nvPr/>
        </p:nvSpPr>
        <p:spPr>
          <a:xfrm>
            <a:off x="5541752" y="3062637"/>
            <a:ext cx="2448702" cy="1723549"/>
          </a:xfrm>
          <a:prstGeom prst="rect">
            <a:avLst/>
          </a:prstGeom>
          <a:solidFill>
            <a:srgbClr val="0F1B2D"/>
          </a:solidFill>
          <a:ln w="12700">
            <a:solidFill>
              <a:srgbClr val="0F1B2D"/>
            </a:solidFill>
            <a:prstDash val="solid"/>
          </a:ln>
        </p:spPr>
        <p:txBody>
          <a:bodyPr rtlCol="0" anchor="ctr"/>
          <a:lstStyle/>
          <a:p>
            <a:pPr algn="ctr"/>
            <a:endParaRPr lang="en-IN" dirty="0">
              <a:highlight>
                <a:srgbClr val="FFFF00"/>
              </a:highlight>
            </a:endParaRPr>
          </a:p>
        </p:txBody>
      </p:sp>
      <p:sp>
        <p:nvSpPr>
          <p:cNvPr id="537" name="TextBox 536">
            <a:extLst>
              <a:ext uri="{FF2B5EF4-FFF2-40B4-BE49-F238E27FC236}">
                <a16:creationId xmlns:a16="http://schemas.microsoft.com/office/drawing/2014/main" id="{16BCE9BE-FF49-3F06-1DE7-0CC8FB9A47BC}"/>
              </a:ext>
            </a:extLst>
          </p:cNvPr>
          <p:cNvSpPr txBox="1"/>
          <p:nvPr/>
        </p:nvSpPr>
        <p:spPr>
          <a:xfrm>
            <a:off x="5619121" y="3151169"/>
            <a:ext cx="3988191" cy="1477328"/>
          </a:xfrm>
          <a:prstGeom prst="rect">
            <a:avLst/>
          </a:prstGeom>
          <a:noFill/>
        </p:spPr>
        <p:txBody>
          <a:bodyPr wrap="square" rtlCol="0">
            <a:spAutoFit/>
          </a:bodyPr>
          <a:lstStyle/>
          <a:p>
            <a:r>
              <a:rPr lang="en-IN" sz="1600" u="sng" dirty="0">
                <a:solidFill>
                  <a:schemeClr val="bg1"/>
                </a:solidFill>
              </a:rPr>
              <a:t>DATASET SUMMARY</a:t>
            </a:r>
            <a:r>
              <a:rPr lang="en-IN" sz="1600" dirty="0">
                <a:solidFill>
                  <a:schemeClr val="bg1"/>
                </a:solidFill>
              </a:rPr>
              <a:t> </a:t>
            </a:r>
            <a:r>
              <a:rPr lang="en-IN" dirty="0">
                <a:solidFill>
                  <a:schemeClr val="bg1"/>
                </a:solidFill>
              </a:rPr>
              <a:t>:</a:t>
            </a:r>
          </a:p>
          <a:p>
            <a:r>
              <a:rPr lang="en-IN" sz="1200" dirty="0">
                <a:solidFill>
                  <a:schemeClr val="bg1"/>
                </a:solidFill>
              </a:rPr>
              <a:t>• Total Orders: 31,465</a:t>
            </a:r>
            <a:br>
              <a:rPr lang="en-IN" sz="1200" dirty="0">
                <a:solidFill>
                  <a:schemeClr val="bg1"/>
                </a:solidFill>
              </a:rPr>
            </a:br>
            <a:r>
              <a:rPr lang="en-IN" sz="1200" dirty="0">
                <a:solidFill>
                  <a:schemeClr val="bg1"/>
                </a:solidFill>
              </a:rPr>
              <a:t>• Total Sales: 109.8M</a:t>
            </a:r>
            <a:br>
              <a:rPr lang="en-IN" sz="1200" dirty="0">
                <a:solidFill>
                  <a:schemeClr val="bg1"/>
                </a:solidFill>
              </a:rPr>
            </a:br>
            <a:r>
              <a:rPr lang="en-IN" sz="1200" dirty="0">
                <a:solidFill>
                  <a:schemeClr val="bg1"/>
                </a:solidFill>
              </a:rPr>
              <a:t>• Average Order Value: 3,491</a:t>
            </a:r>
            <a:br>
              <a:rPr lang="en-IN" sz="1200" dirty="0">
                <a:solidFill>
                  <a:schemeClr val="bg1"/>
                </a:solidFill>
              </a:rPr>
            </a:br>
            <a:r>
              <a:rPr lang="en-IN" sz="1200" dirty="0">
                <a:solidFill>
                  <a:schemeClr val="bg1"/>
                </a:solidFill>
              </a:rPr>
              <a:t>• Total Products: 504</a:t>
            </a:r>
            <a:br>
              <a:rPr lang="en-IN" sz="1200" dirty="0">
                <a:solidFill>
                  <a:schemeClr val="bg1"/>
                </a:solidFill>
              </a:rPr>
            </a:br>
            <a:r>
              <a:rPr lang="en-IN" sz="1200" dirty="0">
                <a:solidFill>
                  <a:schemeClr val="bg1"/>
                </a:solidFill>
              </a:rPr>
              <a:t>• Total Customers: 19,820</a:t>
            </a:r>
            <a:br>
              <a:rPr lang="en-IN" sz="1200" dirty="0">
                <a:solidFill>
                  <a:schemeClr val="bg1"/>
                </a:solidFill>
              </a:rPr>
            </a:br>
            <a:r>
              <a:rPr lang="en-IN" sz="1200" dirty="0">
                <a:solidFill>
                  <a:schemeClr val="bg1"/>
                </a:solidFill>
              </a:rPr>
              <a:t>• Total Profit: 9.37M</a:t>
            </a:r>
          </a:p>
        </p:txBody>
      </p:sp>
      <p:pic>
        <p:nvPicPr>
          <p:cNvPr id="539" name="Picture 538">
            <a:extLst>
              <a:ext uri="{FF2B5EF4-FFF2-40B4-BE49-F238E27FC236}">
                <a16:creationId xmlns:a16="http://schemas.microsoft.com/office/drawing/2014/main" id="{4C31A8A5-2106-BF26-431E-A498D06C397F}"/>
              </a:ext>
            </a:extLst>
          </p:cNvPr>
          <p:cNvPicPr>
            <a:picLocks noChangeAspect="1"/>
          </p:cNvPicPr>
          <p:nvPr/>
        </p:nvPicPr>
        <p:blipFill>
          <a:blip r:embed="rId4"/>
          <a:stretch>
            <a:fillRect/>
          </a:stretch>
        </p:blipFill>
        <p:spPr>
          <a:xfrm>
            <a:off x="7034" y="666809"/>
            <a:ext cx="5330732" cy="4229467"/>
          </a:xfrm>
          <a:prstGeom prst="rect">
            <a:avLst/>
          </a:prstGeom>
          <a:ln>
            <a:solidFill>
              <a:schemeClr val="tx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42" name="Shape 40"/>
          <p:cNvSpPr/>
          <p:nvPr/>
        </p:nvSpPr>
        <p:spPr>
          <a:xfrm>
            <a:off x="0" y="-703"/>
            <a:ext cx="9144000" cy="603504"/>
          </a:xfrm>
          <a:prstGeom prst="rect">
            <a:avLst/>
          </a:prstGeom>
          <a:solidFill>
            <a:srgbClr val="0F1B2D"/>
          </a:solidFill>
          <a:ln w="12700">
            <a:solidFill>
              <a:srgbClr val="0F1B2D"/>
            </a:solidFill>
            <a:prstDash val="solid"/>
          </a:ln>
        </p:spPr>
        <p:txBody>
          <a:bodyPr/>
          <a:lstStyle/>
          <a:p>
            <a:endParaRPr lang="en-IN"/>
          </a:p>
        </p:txBody>
      </p:sp>
      <p:sp>
        <p:nvSpPr>
          <p:cNvPr id="43" name="Shape 41"/>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44" name="Text 42"/>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Q2  </a:t>
            </a:r>
            <a:r>
              <a:rPr lang="en-IN" sz="1400" dirty="0">
                <a:solidFill>
                  <a:schemeClr val="bg1"/>
                </a:solidFill>
              </a:rPr>
              <a:t>Which product categories generate the highest revenue and profit?</a:t>
            </a:r>
            <a:endParaRPr lang="en-US" sz="1300" dirty="0">
              <a:solidFill>
                <a:schemeClr val="bg1"/>
              </a:solidFill>
            </a:endParaRPr>
          </a:p>
        </p:txBody>
      </p:sp>
      <p:pic>
        <p:nvPicPr>
          <p:cNvPr id="49" name="Picture 48">
            <a:extLst>
              <a:ext uri="{FF2B5EF4-FFF2-40B4-BE49-F238E27FC236}">
                <a16:creationId xmlns:a16="http://schemas.microsoft.com/office/drawing/2014/main" id="{6520CB39-231F-BAFB-D537-8A115C4F71C5}"/>
              </a:ext>
            </a:extLst>
          </p:cNvPr>
          <p:cNvPicPr>
            <a:picLocks noChangeAspect="1"/>
          </p:cNvPicPr>
          <p:nvPr/>
        </p:nvPicPr>
        <p:blipFill>
          <a:blip r:embed="rId3"/>
          <a:srcRect t="2007"/>
          <a:stretch>
            <a:fillRect/>
          </a:stretch>
        </p:blipFill>
        <p:spPr>
          <a:xfrm>
            <a:off x="128018" y="687069"/>
            <a:ext cx="7420708" cy="2852641"/>
          </a:xfrm>
          <a:prstGeom prst="rect">
            <a:avLst/>
          </a:prstGeom>
          <a:ln>
            <a:solidFill>
              <a:schemeClr val="tx1"/>
            </a:solidFill>
          </a:ln>
        </p:spPr>
      </p:pic>
      <p:pic>
        <p:nvPicPr>
          <p:cNvPr id="51" name="Picture 50">
            <a:extLst>
              <a:ext uri="{FF2B5EF4-FFF2-40B4-BE49-F238E27FC236}">
                <a16:creationId xmlns:a16="http://schemas.microsoft.com/office/drawing/2014/main" id="{69ACBBAA-61B5-06EE-9651-C44741A761D5}"/>
              </a:ext>
            </a:extLst>
          </p:cNvPr>
          <p:cNvPicPr>
            <a:picLocks noChangeAspect="1"/>
          </p:cNvPicPr>
          <p:nvPr/>
        </p:nvPicPr>
        <p:blipFill>
          <a:blip r:embed="rId4"/>
          <a:srcRect t="7763"/>
          <a:stretch>
            <a:fillRect/>
          </a:stretch>
        </p:blipFill>
        <p:spPr>
          <a:xfrm>
            <a:off x="54864" y="3845964"/>
            <a:ext cx="3170856" cy="1005839"/>
          </a:xfrm>
          <a:prstGeom prst="rect">
            <a:avLst/>
          </a:prstGeom>
          <a:ln>
            <a:solidFill>
              <a:schemeClr val="tx1"/>
            </a:solidFill>
          </a:ln>
        </p:spPr>
      </p:pic>
      <p:sp>
        <p:nvSpPr>
          <p:cNvPr id="53" name="Rectangle 52">
            <a:extLst>
              <a:ext uri="{FF2B5EF4-FFF2-40B4-BE49-F238E27FC236}">
                <a16:creationId xmlns:a16="http://schemas.microsoft.com/office/drawing/2014/main" id="{2A39EDDD-7651-71C9-0690-BEF3969FE7DC}"/>
              </a:ext>
            </a:extLst>
          </p:cNvPr>
          <p:cNvSpPr/>
          <p:nvPr/>
        </p:nvSpPr>
        <p:spPr>
          <a:xfrm>
            <a:off x="4135907" y="3726388"/>
            <a:ext cx="4494632" cy="1244992"/>
          </a:xfrm>
          <a:prstGeom prst="rect">
            <a:avLst/>
          </a:prstGeom>
          <a:solidFill>
            <a:srgbClr val="0F1B2D"/>
          </a:solidFill>
          <a:ln w="12700">
            <a:solidFill>
              <a:srgbClr val="0F1B2D"/>
            </a:solidFill>
            <a:prstDash val="solid"/>
          </a:ln>
        </p:spPr>
        <p:txBody>
          <a:bodyPr rtlCol="0" anchor="ctr"/>
          <a:lstStyle/>
          <a:p>
            <a:pPr algn="ctr"/>
            <a:endParaRPr lang="en-IN"/>
          </a:p>
        </p:txBody>
      </p:sp>
      <p:sp>
        <p:nvSpPr>
          <p:cNvPr id="55" name="TextBox 54">
            <a:extLst>
              <a:ext uri="{FF2B5EF4-FFF2-40B4-BE49-F238E27FC236}">
                <a16:creationId xmlns:a16="http://schemas.microsoft.com/office/drawing/2014/main" id="{8E332D8E-1505-EF0A-4993-749D0F268DC1}"/>
              </a:ext>
            </a:extLst>
          </p:cNvPr>
          <p:cNvSpPr txBox="1"/>
          <p:nvPr/>
        </p:nvSpPr>
        <p:spPr>
          <a:xfrm>
            <a:off x="4234376" y="3734971"/>
            <a:ext cx="5401994" cy="1354217"/>
          </a:xfrm>
          <a:prstGeom prst="rect">
            <a:avLst/>
          </a:prstGeom>
          <a:noFill/>
        </p:spPr>
        <p:txBody>
          <a:bodyPr wrap="square" rtlCol="0">
            <a:spAutoFit/>
          </a:bodyPr>
          <a:lstStyle/>
          <a:p>
            <a:r>
              <a:rPr lang="en-IN" sz="1400" b="1" u="sng" dirty="0">
                <a:solidFill>
                  <a:schemeClr val="bg1"/>
                </a:solidFill>
              </a:rPr>
              <a:t>Observation</a:t>
            </a:r>
            <a:r>
              <a:rPr lang="en-IN" sz="1400" b="1" dirty="0">
                <a:solidFill>
                  <a:schemeClr val="bg1"/>
                </a:solidFill>
              </a:rPr>
              <a:t> : </a:t>
            </a:r>
          </a:p>
          <a:p>
            <a:r>
              <a:rPr lang="en-IN" sz="1400" b="1" dirty="0">
                <a:solidFill>
                  <a:schemeClr val="bg1"/>
                </a:solidFill>
              </a:rPr>
              <a:t>1. Bikes</a:t>
            </a:r>
            <a:r>
              <a:rPr lang="en-IN" sz="1400" dirty="0">
                <a:solidFill>
                  <a:schemeClr val="bg1"/>
                </a:solidFill>
              </a:rPr>
              <a:t> had the highest sales (</a:t>
            </a:r>
            <a:r>
              <a:rPr lang="en-IN" sz="1400" b="1" dirty="0">
                <a:solidFill>
                  <a:schemeClr val="bg1"/>
                </a:solidFill>
              </a:rPr>
              <a:t>94.6M</a:t>
            </a:r>
            <a:r>
              <a:rPr lang="en-IN" sz="1400" dirty="0">
                <a:solidFill>
                  <a:schemeClr val="bg1"/>
                </a:solidFill>
              </a:rPr>
              <a:t>). </a:t>
            </a:r>
          </a:p>
          <a:p>
            <a:r>
              <a:rPr lang="en-IN" sz="1400" b="1" dirty="0">
                <a:solidFill>
                  <a:schemeClr val="bg1"/>
                </a:solidFill>
              </a:rPr>
              <a:t>2. Bikes</a:t>
            </a:r>
            <a:r>
              <a:rPr lang="en-IN" sz="1400" dirty="0">
                <a:solidFill>
                  <a:schemeClr val="bg1"/>
                </a:solidFill>
              </a:rPr>
              <a:t> generated the highest profit (</a:t>
            </a:r>
            <a:r>
              <a:rPr lang="en-IN" sz="1400" b="1" dirty="0">
                <a:solidFill>
                  <a:schemeClr val="bg1"/>
                </a:solidFill>
              </a:rPr>
              <a:t>7.9M</a:t>
            </a:r>
            <a:r>
              <a:rPr lang="en-IN" sz="1400" dirty="0">
                <a:solidFill>
                  <a:schemeClr val="bg1"/>
                </a:solidFill>
              </a:rPr>
              <a:t>). </a:t>
            </a:r>
          </a:p>
          <a:p>
            <a:r>
              <a:rPr lang="en-IN" sz="1400" b="1" dirty="0">
                <a:solidFill>
                  <a:schemeClr val="bg1"/>
                </a:solidFill>
              </a:rPr>
              <a:t>3. Accessories</a:t>
            </a:r>
            <a:r>
              <a:rPr lang="en-IN" sz="1400" dirty="0">
                <a:solidFill>
                  <a:schemeClr val="bg1"/>
                </a:solidFill>
              </a:rPr>
              <a:t> had the best profit margin (</a:t>
            </a:r>
            <a:r>
              <a:rPr lang="en-IN" sz="1400" b="1" dirty="0">
                <a:solidFill>
                  <a:schemeClr val="bg1"/>
                </a:solidFill>
              </a:rPr>
              <a:t>50%</a:t>
            </a:r>
            <a:r>
              <a:rPr lang="en-IN" sz="1400" dirty="0">
                <a:solidFill>
                  <a:schemeClr val="bg1"/>
                </a:solidFill>
              </a:rPr>
              <a:t>). </a:t>
            </a:r>
          </a:p>
          <a:p>
            <a:r>
              <a:rPr lang="en-IN" sz="1400" b="1" dirty="0">
                <a:solidFill>
                  <a:schemeClr val="bg1"/>
                </a:solidFill>
              </a:rPr>
              <a:t>4. Clothing</a:t>
            </a:r>
            <a:r>
              <a:rPr lang="en-IN" sz="1400" dirty="0">
                <a:solidFill>
                  <a:schemeClr val="bg1"/>
                </a:solidFill>
              </a:rPr>
              <a:t> performed moderately in both sales and profit. </a:t>
            </a:r>
          </a:p>
          <a:p>
            <a:endParaRPr lang="en-IN"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AFB"/>
        </a:solidFill>
        <a:effectLst/>
      </p:bgPr>
    </p:bg>
    <p:spTree>
      <p:nvGrpSpPr>
        <p:cNvPr id="1" name=""/>
        <p:cNvGrpSpPr/>
        <p:nvPr/>
      </p:nvGrpSpPr>
      <p:grpSpPr>
        <a:xfrm>
          <a:off x="0" y="0"/>
          <a:ext cx="0" cy="0"/>
          <a:chOff x="0" y="0"/>
          <a:chExt cx="0" cy="0"/>
        </a:xfrm>
      </p:grpSpPr>
      <p:sp>
        <p:nvSpPr>
          <p:cNvPr id="46" name="Shape 40">
            <a:extLst>
              <a:ext uri="{FF2B5EF4-FFF2-40B4-BE49-F238E27FC236}">
                <a16:creationId xmlns:a16="http://schemas.microsoft.com/office/drawing/2014/main" id="{83202759-AB44-6196-DF20-AF660378BC65}"/>
              </a:ext>
            </a:extLst>
          </p:cNvPr>
          <p:cNvSpPr/>
          <p:nvPr/>
        </p:nvSpPr>
        <p:spPr>
          <a:xfrm>
            <a:off x="0" y="0"/>
            <a:ext cx="9144000" cy="469860"/>
          </a:xfrm>
          <a:prstGeom prst="rect">
            <a:avLst/>
          </a:prstGeom>
          <a:solidFill>
            <a:srgbClr val="0F1B2D"/>
          </a:solidFill>
          <a:ln w="12700">
            <a:solidFill>
              <a:srgbClr val="0F1B2D"/>
            </a:solidFill>
            <a:prstDash val="solid"/>
          </a:ln>
        </p:spPr>
        <p:txBody>
          <a:bodyPr/>
          <a:lstStyle/>
          <a:p>
            <a:endParaRPr lang="en-IN" dirty="0"/>
          </a:p>
        </p:txBody>
      </p:sp>
      <p:sp>
        <p:nvSpPr>
          <p:cNvPr id="48" name="Shape 41">
            <a:extLst>
              <a:ext uri="{FF2B5EF4-FFF2-40B4-BE49-F238E27FC236}">
                <a16:creationId xmlns:a16="http://schemas.microsoft.com/office/drawing/2014/main" id="{5C07EAD8-2CD8-58C0-B684-3804AC5DDD01}"/>
              </a:ext>
            </a:extLst>
          </p:cNvPr>
          <p:cNvSpPr/>
          <p:nvPr/>
        </p:nvSpPr>
        <p:spPr>
          <a:xfrm>
            <a:off x="0" y="-7034"/>
            <a:ext cx="54864" cy="476894"/>
          </a:xfrm>
          <a:prstGeom prst="rect">
            <a:avLst/>
          </a:prstGeom>
          <a:solidFill>
            <a:srgbClr val="00C4A7"/>
          </a:solidFill>
          <a:ln w="12700">
            <a:solidFill>
              <a:srgbClr val="00C4A7"/>
            </a:solidFill>
            <a:prstDash val="solid"/>
          </a:ln>
        </p:spPr>
        <p:txBody>
          <a:bodyPr/>
          <a:lstStyle/>
          <a:p>
            <a:endParaRPr lang="en-IN"/>
          </a:p>
        </p:txBody>
      </p:sp>
      <p:sp>
        <p:nvSpPr>
          <p:cNvPr id="50" name="Text 42">
            <a:extLst>
              <a:ext uri="{FF2B5EF4-FFF2-40B4-BE49-F238E27FC236}">
                <a16:creationId xmlns:a16="http://schemas.microsoft.com/office/drawing/2014/main" id="{319AB481-61E3-BE75-AF7C-CE22FF3E8CFE}"/>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Q3  </a:t>
            </a:r>
            <a:r>
              <a:rPr lang="en-IN" sz="1400" dirty="0">
                <a:solidFill>
                  <a:schemeClr val="bg1"/>
                </a:solidFill>
              </a:rPr>
              <a:t>Which product subcategories have high sales but low profit margins?</a:t>
            </a:r>
            <a:endParaRPr lang="en-US" sz="1300" dirty="0">
              <a:solidFill>
                <a:schemeClr val="bg1"/>
              </a:solidFill>
            </a:endParaRPr>
          </a:p>
        </p:txBody>
      </p:sp>
      <p:pic>
        <p:nvPicPr>
          <p:cNvPr id="52" name="Picture 51">
            <a:extLst>
              <a:ext uri="{FF2B5EF4-FFF2-40B4-BE49-F238E27FC236}">
                <a16:creationId xmlns:a16="http://schemas.microsoft.com/office/drawing/2014/main" id="{E49125EA-90A4-347F-F7F9-F0C13FA914E5}"/>
              </a:ext>
            </a:extLst>
          </p:cNvPr>
          <p:cNvPicPr>
            <a:picLocks noChangeAspect="1"/>
          </p:cNvPicPr>
          <p:nvPr/>
        </p:nvPicPr>
        <p:blipFill>
          <a:blip r:embed="rId3"/>
          <a:srcRect t="1445" r="1144"/>
          <a:stretch>
            <a:fillRect/>
          </a:stretch>
        </p:blipFill>
        <p:spPr>
          <a:xfrm>
            <a:off x="71041" y="490962"/>
            <a:ext cx="7294801" cy="2878249"/>
          </a:xfrm>
          <a:prstGeom prst="rect">
            <a:avLst/>
          </a:prstGeom>
          <a:ln>
            <a:solidFill>
              <a:schemeClr val="tx1"/>
            </a:solidFill>
          </a:ln>
        </p:spPr>
      </p:pic>
      <p:pic>
        <p:nvPicPr>
          <p:cNvPr id="54" name="Picture 53">
            <a:extLst>
              <a:ext uri="{FF2B5EF4-FFF2-40B4-BE49-F238E27FC236}">
                <a16:creationId xmlns:a16="http://schemas.microsoft.com/office/drawing/2014/main" id="{A10AF414-8FDE-886F-64A4-F67877132CF9}"/>
              </a:ext>
            </a:extLst>
          </p:cNvPr>
          <p:cNvPicPr>
            <a:picLocks noChangeAspect="1"/>
          </p:cNvPicPr>
          <p:nvPr/>
        </p:nvPicPr>
        <p:blipFill>
          <a:blip r:embed="rId4"/>
          <a:srcRect t="5799"/>
          <a:stretch>
            <a:fillRect/>
          </a:stretch>
        </p:blipFill>
        <p:spPr>
          <a:xfrm>
            <a:off x="342194" y="3530992"/>
            <a:ext cx="3341077" cy="1528103"/>
          </a:xfrm>
          <a:prstGeom prst="rect">
            <a:avLst/>
          </a:prstGeom>
          <a:ln>
            <a:solidFill>
              <a:schemeClr val="tx1"/>
            </a:solidFill>
          </a:ln>
        </p:spPr>
      </p:pic>
      <p:pic>
        <p:nvPicPr>
          <p:cNvPr id="58" name="Picture 57">
            <a:extLst>
              <a:ext uri="{FF2B5EF4-FFF2-40B4-BE49-F238E27FC236}">
                <a16:creationId xmlns:a16="http://schemas.microsoft.com/office/drawing/2014/main" id="{CF0EBF7F-8A59-8E09-F3DF-FDE7CE98924E}"/>
              </a:ext>
            </a:extLst>
          </p:cNvPr>
          <p:cNvPicPr>
            <a:picLocks noChangeAspect="1"/>
          </p:cNvPicPr>
          <p:nvPr/>
        </p:nvPicPr>
        <p:blipFill>
          <a:blip r:embed="rId5"/>
          <a:stretch>
            <a:fillRect/>
          </a:stretch>
        </p:blipFill>
        <p:spPr>
          <a:xfrm>
            <a:off x="5105249" y="4030306"/>
            <a:ext cx="1752752" cy="1028789"/>
          </a:xfrm>
          <a:prstGeom prst="rect">
            <a:avLst/>
          </a:prstGeom>
          <a:ln>
            <a:solidFill>
              <a:schemeClr val="tx1"/>
            </a:solidFill>
          </a:ln>
        </p:spPr>
      </p:pic>
      <p:sp>
        <p:nvSpPr>
          <p:cNvPr id="64" name="TextBox 63">
            <a:extLst>
              <a:ext uri="{FF2B5EF4-FFF2-40B4-BE49-F238E27FC236}">
                <a16:creationId xmlns:a16="http://schemas.microsoft.com/office/drawing/2014/main" id="{F26C1537-55A3-FDFF-E533-55296050DE47}"/>
              </a:ext>
            </a:extLst>
          </p:cNvPr>
          <p:cNvSpPr txBox="1"/>
          <p:nvPr/>
        </p:nvSpPr>
        <p:spPr>
          <a:xfrm>
            <a:off x="4804117" y="3643532"/>
            <a:ext cx="2792437" cy="298895"/>
          </a:xfrm>
          <a:prstGeom prst="rect">
            <a:avLst/>
          </a:prstGeom>
          <a:solidFill>
            <a:srgbClr val="0F1B2D"/>
          </a:solidFill>
          <a:ln w="12700">
            <a:solidFill>
              <a:srgbClr val="0F1B2D"/>
            </a:solidFill>
            <a:prstDash val="solid"/>
          </a:ln>
        </p:spPr>
        <p:txBody>
          <a:bodyPr/>
          <a:lstStyle/>
          <a:p>
            <a:r>
              <a:rPr lang="en-IN" sz="1400" dirty="0">
                <a:solidFill>
                  <a:schemeClr val="bg1"/>
                </a:solidFill>
              </a:rPr>
              <a:t>Sub categories with negative profit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CD0BF719-A462-32FE-5618-23FB3719BB33}"/>
              </a:ext>
            </a:extLst>
          </p:cNvPr>
          <p:cNvGraphicFramePr>
            <a:graphicFrameLocks/>
          </p:cNvGraphicFramePr>
          <p:nvPr>
            <p:extLst>
              <p:ext uri="{D42A27DB-BD31-4B8C-83A1-F6EECF244321}">
                <p14:modId xmlns:p14="http://schemas.microsoft.com/office/powerpoint/2010/main" val="810876317"/>
              </p:ext>
            </p:extLst>
          </p:nvPr>
        </p:nvGraphicFramePr>
        <p:xfrm>
          <a:off x="-268752" y="795411"/>
          <a:ext cx="5798820" cy="4030980"/>
        </p:xfrm>
        <a:graphic>
          <a:graphicData uri="http://schemas.openxmlformats.org/drawingml/2006/chart">
            <c:chart xmlns:c="http://schemas.openxmlformats.org/drawingml/2006/chart" xmlns:r="http://schemas.openxmlformats.org/officeDocument/2006/relationships" r:id="rId2"/>
          </a:graphicData>
        </a:graphic>
      </p:graphicFrame>
      <p:sp>
        <p:nvSpPr>
          <p:cNvPr id="7" name="Shape 40">
            <a:extLst>
              <a:ext uri="{FF2B5EF4-FFF2-40B4-BE49-F238E27FC236}">
                <a16:creationId xmlns:a16="http://schemas.microsoft.com/office/drawing/2014/main" id="{299E3CA1-A468-617D-2475-3EE242ADD589}"/>
              </a:ext>
            </a:extLst>
          </p:cNvPr>
          <p:cNvSpPr/>
          <p:nvPr/>
        </p:nvSpPr>
        <p:spPr>
          <a:xfrm>
            <a:off x="0" y="0"/>
            <a:ext cx="9144000" cy="469860"/>
          </a:xfrm>
          <a:prstGeom prst="rect">
            <a:avLst/>
          </a:prstGeom>
          <a:solidFill>
            <a:srgbClr val="0F1B2D"/>
          </a:solidFill>
          <a:ln w="12700">
            <a:solidFill>
              <a:srgbClr val="0F1B2D"/>
            </a:solidFill>
            <a:prstDash val="solid"/>
          </a:ln>
        </p:spPr>
        <p:txBody>
          <a:bodyPr/>
          <a:lstStyle/>
          <a:p>
            <a:r>
              <a:rPr lang="en-US" sz="1600" b="1" dirty="0">
                <a:solidFill>
                  <a:srgbClr val="FFFFFF"/>
                </a:solidFill>
                <a:latin typeface="Calibri" pitchFamily="34" charset="0"/>
                <a:ea typeface="Calibri" pitchFamily="34" charset="-122"/>
                <a:cs typeface="Calibri" pitchFamily="34" charset="-120"/>
              </a:rPr>
              <a:t>Q3  </a:t>
            </a:r>
            <a:r>
              <a:rPr lang="en-IN" sz="1600" dirty="0">
                <a:solidFill>
                  <a:schemeClr val="bg1"/>
                </a:solidFill>
              </a:rPr>
              <a:t>Which product subcategories have high sales but low profit margins?</a:t>
            </a:r>
            <a:endParaRPr lang="en-US" sz="1600" dirty="0">
              <a:solidFill>
                <a:schemeClr val="bg1"/>
              </a:solidFill>
            </a:endParaRPr>
          </a:p>
          <a:p>
            <a:endParaRPr lang="en-IN" dirty="0"/>
          </a:p>
        </p:txBody>
      </p:sp>
      <p:sp>
        <p:nvSpPr>
          <p:cNvPr id="11" name="Shape 41">
            <a:extLst>
              <a:ext uri="{FF2B5EF4-FFF2-40B4-BE49-F238E27FC236}">
                <a16:creationId xmlns:a16="http://schemas.microsoft.com/office/drawing/2014/main" id="{28CB79C9-2F24-8261-8C34-9FA974BFA9E7}"/>
              </a:ext>
            </a:extLst>
          </p:cNvPr>
          <p:cNvSpPr/>
          <p:nvPr/>
        </p:nvSpPr>
        <p:spPr>
          <a:xfrm>
            <a:off x="0" y="-7034"/>
            <a:ext cx="54864" cy="476894"/>
          </a:xfrm>
          <a:prstGeom prst="rect">
            <a:avLst/>
          </a:prstGeom>
          <a:solidFill>
            <a:srgbClr val="00C4A7"/>
          </a:solidFill>
          <a:ln w="12700">
            <a:solidFill>
              <a:srgbClr val="00C4A7"/>
            </a:solidFill>
            <a:prstDash val="solid"/>
          </a:ln>
        </p:spPr>
        <p:txBody>
          <a:bodyPr/>
          <a:lstStyle/>
          <a:p>
            <a:endParaRPr lang="en-IN"/>
          </a:p>
        </p:txBody>
      </p:sp>
      <p:sp>
        <p:nvSpPr>
          <p:cNvPr id="14" name="Rectangle 13">
            <a:extLst>
              <a:ext uri="{FF2B5EF4-FFF2-40B4-BE49-F238E27FC236}">
                <a16:creationId xmlns:a16="http://schemas.microsoft.com/office/drawing/2014/main" id="{11775424-9EDA-0A55-3AF0-32089D16150D}"/>
              </a:ext>
            </a:extLst>
          </p:cNvPr>
          <p:cNvSpPr/>
          <p:nvPr/>
        </p:nvSpPr>
        <p:spPr>
          <a:xfrm>
            <a:off x="5816990" y="1610750"/>
            <a:ext cx="3123028" cy="25251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B8ECE7C8-06A9-B659-11EB-0299E06D0698}"/>
              </a:ext>
            </a:extLst>
          </p:cNvPr>
          <p:cNvSpPr txBox="1"/>
          <p:nvPr/>
        </p:nvSpPr>
        <p:spPr>
          <a:xfrm>
            <a:off x="5866225" y="1660191"/>
            <a:ext cx="2883877" cy="2339102"/>
          </a:xfrm>
          <a:prstGeom prst="rect">
            <a:avLst/>
          </a:prstGeom>
          <a:noFill/>
        </p:spPr>
        <p:txBody>
          <a:bodyPr wrap="square" rtlCol="0">
            <a:spAutoFit/>
          </a:bodyPr>
          <a:lstStyle/>
          <a:p>
            <a:r>
              <a:rPr lang="en-IN" sz="1400" b="1" u="sng" dirty="0"/>
              <a:t>KEY FINDINGS </a:t>
            </a:r>
            <a:r>
              <a:rPr lang="en-IN" dirty="0"/>
              <a:t>:</a:t>
            </a:r>
          </a:p>
          <a:p>
            <a:r>
              <a:rPr lang="en-IN" sz="1100" dirty="0"/>
              <a:t>On The Analysis I observed That Road Bikes Have Highest Sales But Low Profit Margin (15%)</a:t>
            </a:r>
          </a:p>
          <a:p>
            <a:r>
              <a:rPr lang="en-IN" sz="1100" dirty="0"/>
              <a:t>And I Also observed There is Good Profit Margin From Touring Bikes(65%)</a:t>
            </a:r>
          </a:p>
          <a:p>
            <a:r>
              <a:rPr lang="en-IN" sz="1200" b="1" u="sng" dirty="0"/>
              <a:t>We  should Focus On </a:t>
            </a:r>
            <a:r>
              <a:rPr lang="en-IN" sz="1200" b="1" dirty="0"/>
              <a:t>:</a:t>
            </a:r>
          </a:p>
          <a:p>
            <a:r>
              <a:rPr lang="en-IN" sz="1200" dirty="0"/>
              <a:t>Few products with  Are No profit They Are In Negative </a:t>
            </a:r>
          </a:p>
          <a:p>
            <a:pPr marL="228600" indent="-228600">
              <a:buAutoNum type="arabicPeriod"/>
            </a:pPr>
            <a:r>
              <a:rPr lang="en-IN" sz="1200" dirty="0"/>
              <a:t>Jerseys (-149,887)</a:t>
            </a:r>
          </a:p>
          <a:p>
            <a:pPr marL="228600" indent="-228600">
              <a:buAutoNum type="arabicPeriod"/>
            </a:pPr>
            <a:r>
              <a:rPr lang="en-IN" sz="1200" dirty="0"/>
              <a:t>Caps (-6,301)</a:t>
            </a:r>
          </a:p>
          <a:p>
            <a:pPr marL="228600" indent="-228600">
              <a:buAutoNum type="arabicPeriod"/>
            </a:pPr>
            <a:r>
              <a:rPr lang="en-IN" sz="1200" dirty="0"/>
              <a:t>Touring Frames (-5573)</a:t>
            </a:r>
          </a:p>
          <a:p>
            <a:pPr marL="228600" indent="-228600">
              <a:buAutoNum type="arabicPeriod"/>
            </a:pPr>
            <a:r>
              <a:rPr lang="en-IN" sz="1200" dirty="0"/>
              <a:t>Road Frames (-172,617)</a:t>
            </a:r>
          </a:p>
        </p:txBody>
      </p:sp>
    </p:spTree>
    <p:extLst>
      <p:ext uri="{BB962C8B-B14F-4D97-AF65-F5344CB8AC3E}">
        <p14:creationId xmlns:p14="http://schemas.microsoft.com/office/powerpoint/2010/main" val="3012905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AFB"/>
        </a:solidFill>
        <a:effectLst/>
      </p:bgPr>
    </p:bg>
    <p:spTree>
      <p:nvGrpSpPr>
        <p:cNvPr id="1" name=""/>
        <p:cNvGrpSpPr/>
        <p:nvPr/>
      </p:nvGrpSpPr>
      <p:grpSpPr>
        <a:xfrm>
          <a:off x="0" y="0"/>
          <a:ext cx="0" cy="0"/>
          <a:chOff x="0" y="0"/>
          <a:chExt cx="0" cy="0"/>
        </a:xfrm>
      </p:grpSpPr>
      <p:sp>
        <p:nvSpPr>
          <p:cNvPr id="59" name="Shape 57"/>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a:p>
        </p:txBody>
      </p:sp>
      <p:sp>
        <p:nvSpPr>
          <p:cNvPr id="60" name="Shape 58"/>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61" name="Text 59"/>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Q4  </a:t>
            </a:r>
            <a:r>
              <a:rPr lang="en-IN" sz="1400" dirty="0">
                <a:solidFill>
                  <a:schemeClr val="bg1"/>
                </a:solidFill>
              </a:rPr>
              <a:t>How has monthly revenue changed over time and where are the major growth or decline periods?</a:t>
            </a:r>
            <a:endParaRPr lang="en-US" sz="1300" dirty="0">
              <a:solidFill>
                <a:schemeClr val="bg1"/>
              </a:solidFill>
            </a:endParaRPr>
          </a:p>
        </p:txBody>
      </p:sp>
      <p:sp>
        <p:nvSpPr>
          <p:cNvPr id="65" name="TextBox 64">
            <a:extLst>
              <a:ext uri="{FF2B5EF4-FFF2-40B4-BE49-F238E27FC236}">
                <a16:creationId xmlns:a16="http://schemas.microsoft.com/office/drawing/2014/main" id="{6DBFEF0C-DF88-FC3D-C274-A299420775C3}"/>
              </a:ext>
            </a:extLst>
          </p:cNvPr>
          <p:cNvSpPr txBox="1"/>
          <p:nvPr/>
        </p:nvSpPr>
        <p:spPr>
          <a:xfrm>
            <a:off x="8053753" y="4733777"/>
            <a:ext cx="949569" cy="338554"/>
          </a:xfrm>
          <a:prstGeom prst="rect">
            <a:avLst/>
          </a:prstGeom>
          <a:solidFill>
            <a:srgbClr val="0F1B2D"/>
          </a:solidFill>
          <a:ln w="12700">
            <a:solidFill>
              <a:srgbClr val="0F1B2D"/>
            </a:solidFill>
            <a:prstDash val="solid"/>
          </a:ln>
        </p:spPr>
        <p:txBody>
          <a:bodyPr wrap="square" rtlCol="0">
            <a:spAutoFit/>
          </a:bodyPr>
          <a:lstStyle/>
          <a:p>
            <a:r>
              <a:rPr lang="en-IN" sz="1600" dirty="0">
                <a:solidFill>
                  <a:schemeClr val="bg1"/>
                </a:solidFill>
              </a:rPr>
              <a:t>Contd..</a:t>
            </a:r>
            <a:endParaRPr lang="en-IN" dirty="0">
              <a:solidFill>
                <a:schemeClr val="bg1"/>
              </a:solidFill>
            </a:endParaRPr>
          </a:p>
        </p:txBody>
      </p:sp>
      <p:pic>
        <p:nvPicPr>
          <p:cNvPr id="67" name="Picture 66">
            <a:extLst>
              <a:ext uri="{FF2B5EF4-FFF2-40B4-BE49-F238E27FC236}">
                <a16:creationId xmlns:a16="http://schemas.microsoft.com/office/drawing/2014/main" id="{A323152E-EFE2-38C2-BE3F-AEAEAEBF374A}"/>
              </a:ext>
            </a:extLst>
          </p:cNvPr>
          <p:cNvPicPr>
            <a:picLocks noChangeAspect="1"/>
          </p:cNvPicPr>
          <p:nvPr/>
        </p:nvPicPr>
        <p:blipFill>
          <a:blip r:embed="rId3"/>
          <a:srcRect l="3316" t="4078" b="12984"/>
          <a:stretch>
            <a:fillRect/>
          </a:stretch>
        </p:blipFill>
        <p:spPr>
          <a:xfrm>
            <a:off x="351692" y="886265"/>
            <a:ext cx="4921789" cy="2243797"/>
          </a:xfrm>
          <a:prstGeom prst="rect">
            <a:avLst/>
          </a:prstGeom>
          <a:ln>
            <a:solidFill>
              <a:schemeClr val="tx1"/>
            </a:solidFill>
          </a:ln>
        </p:spPr>
      </p:pic>
      <p:pic>
        <p:nvPicPr>
          <p:cNvPr id="69" name="Picture 68">
            <a:extLst>
              <a:ext uri="{FF2B5EF4-FFF2-40B4-BE49-F238E27FC236}">
                <a16:creationId xmlns:a16="http://schemas.microsoft.com/office/drawing/2014/main" id="{A650BDCA-743D-8FAA-E8B9-2206C66C2724}"/>
              </a:ext>
            </a:extLst>
          </p:cNvPr>
          <p:cNvPicPr>
            <a:picLocks noChangeAspect="1"/>
          </p:cNvPicPr>
          <p:nvPr/>
        </p:nvPicPr>
        <p:blipFill>
          <a:blip r:embed="rId4"/>
          <a:stretch>
            <a:fillRect/>
          </a:stretch>
        </p:blipFill>
        <p:spPr>
          <a:xfrm>
            <a:off x="6007115" y="815517"/>
            <a:ext cx="1912786" cy="2682472"/>
          </a:xfrm>
          <a:prstGeom prst="rect">
            <a:avLst/>
          </a:prstGeom>
          <a:ln>
            <a:solidFill>
              <a:schemeClr val="tx1"/>
            </a:solidFill>
          </a:ln>
        </p:spPr>
      </p:pic>
      <p:sp>
        <p:nvSpPr>
          <p:cNvPr id="70" name="TextBox 69">
            <a:extLst>
              <a:ext uri="{FF2B5EF4-FFF2-40B4-BE49-F238E27FC236}">
                <a16:creationId xmlns:a16="http://schemas.microsoft.com/office/drawing/2014/main" id="{06FE2589-53CD-BF2D-FA3D-90A953CE2C59}"/>
              </a:ext>
            </a:extLst>
          </p:cNvPr>
          <p:cNvSpPr txBox="1"/>
          <p:nvPr/>
        </p:nvSpPr>
        <p:spPr>
          <a:xfrm>
            <a:off x="140678" y="3826348"/>
            <a:ext cx="5845127" cy="861774"/>
          </a:xfrm>
          <a:prstGeom prst="rect">
            <a:avLst/>
          </a:prstGeom>
          <a:solidFill>
            <a:srgbClr val="0F1B2D"/>
          </a:solidFill>
          <a:ln w="12700">
            <a:solidFill>
              <a:srgbClr val="0F1B2D"/>
            </a:solidFill>
            <a:prstDash val="solid"/>
          </a:ln>
        </p:spPr>
        <p:txBody>
          <a:bodyPr wrap="square" rtlCol="0">
            <a:spAutoFit/>
          </a:bodyPr>
          <a:lstStyle/>
          <a:p>
            <a:r>
              <a:rPr lang="en-IN" dirty="0">
                <a:solidFill>
                  <a:schemeClr val="bg1"/>
                </a:solidFill>
              </a:rPr>
              <a:t>Note: </a:t>
            </a:r>
            <a:r>
              <a:rPr lang="en-IN" sz="1600" dirty="0">
                <a:solidFill>
                  <a:schemeClr val="bg1"/>
                </a:solidFill>
              </a:rPr>
              <a:t>This analysis  on next Slide uses only 2023 and 2024 data. The years 2022 and 2025 were excluded because they do not contain data for all months.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57">
            <a:extLst>
              <a:ext uri="{FF2B5EF4-FFF2-40B4-BE49-F238E27FC236}">
                <a16:creationId xmlns:a16="http://schemas.microsoft.com/office/drawing/2014/main" id="{F1B5145A-78F1-2AB1-DB74-050A5DAD9534}"/>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a:p>
        </p:txBody>
      </p:sp>
      <p:sp>
        <p:nvSpPr>
          <p:cNvPr id="5" name="Shape 58">
            <a:extLst>
              <a:ext uri="{FF2B5EF4-FFF2-40B4-BE49-F238E27FC236}">
                <a16:creationId xmlns:a16="http://schemas.microsoft.com/office/drawing/2014/main" id="{AEA165DD-82BB-4439-13D3-FBCA55239009}"/>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59">
            <a:extLst>
              <a:ext uri="{FF2B5EF4-FFF2-40B4-BE49-F238E27FC236}">
                <a16:creationId xmlns:a16="http://schemas.microsoft.com/office/drawing/2014/main" id="{873913C8-4D25-A9EB-761B-70E8A33A965C}"/>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Q4  </a:t>
            </a:r>
            <a:r>
              <a:rPr lang="en-IN" sz="1400" dirty="0">
                <a:solidFill>
                  <a:schemeClr val="bg1"/>
                </a:solidFill>
              </a:rPr>
              <a:t>How has monthly revenue changed over time and where are the major growth or decline periods?</a:t>
            </a:r>
            <a:endParaRPr lang="en-US" sz="1300" dirty="0">
              <a:solidFill>
                <a:schemeClr val="bg1"/>
              </a:solidFill>
            </a:endParaRPr>
          </a:p>
        </p:txBody>
      </p:sp>
      <p:graphicFrame>
        <p:nvGraphicFramePr>
          <p:cNvPr id="9" name="Chart 8">
            <a:extLst>
              <a:ext uri="{FF2B5EF4-FFF2-40B4-BE49-F238E27FC236}">
                <a16:creationId xmlns:a16="http://schemas.microsoft.com/office/drawing/2014/main" id="{4F1BE583-78E3-630B-E973-B465F1269496}"/>
              </a:ext>
            </a:extLst>
          </p:cNvPr>
          <p:cNvGraphicFramePr>
            <a:graphicFrameLocks/>
          </p:cNvGraphicFramePr>
          <p:nvPr>
            <p:extLst>
              <p:ext uri="{D42A27DB-BD31-4B8C-83A1-F6EECF244321}">
                <p14:modId xmlns:p14="http://schemas.microsoft.com/office/powerpoint/2010/main" val="661290438"/>
              </p:ext>
            </p:extLst>
          </p:nvPr>
        </p:nvGraphicFramePr>
        <p:xfrm>
          <a:off x="27432" y="1033974"/>
          <a:ext cx="5634110" cy="3610126"/>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a:extLst>
              <a:ext uri="{FF2B5EF4-FFF2-40B4-BE49-F238E27FC236}">
                <a16:creationId xmlns:a16="http://schemas.microsoft.com/office/drawing/2014/main" id="{23F92B8F-7D7B-90CF-9E14-0D822324667B}"/>
              </a:ext>
            </a:extLst>
          </p:cNvPr>
          <p:cNvSpPr/>
          <p:nvPr/>
        </p:nvSpPr>
        <p:spPr>
          <a:xfrm>
            <a:off x="5866227" y="780755"/>
            <a:ext cx="3200400" cy="3967971"/>
          </a:xfrm>
          <a:prstGeom prst="rect">
            <a:avLst/>
          </a:prstGeom>
          <a:solidFill>
            <a:srgbClr val="0F1B2D"/>
          </a:solidFill>
          <a:ln w="12700">
            <a:solidFill>
              <a:srgbClr val="0F1B2D"/>
            </a:solidFill>
            <a:prstDash val="solid"/>
          </a:ln>
        </p:spPr>
        <p:txBody>
          <a:bodyPr rtlCol="0" anchor="ctr"/>
          <a:lstStyle/>
          <a:p>
            <a:r>
              <a:rPr lang="en-IN" sz="1600" b="1" u="sng" dirty="0">
                <a:solidFill>
                  <a:schemeClr val="bg1"/>
                </a:solidFill>
              </a:rPr>
              <a:t>Observation : </a:t>
            </a:r>
          </a:p>
          <a:p>
            <a:pPr marL="342900" indent="-342900">
              <a:buAutoNum type="arabicPlain"/>
            </a:pPr>
            <a:r>
              <a:rPr lang="en-IN" sz="1400" dirty="0">
                <a:solidFill>
                  <a:schemeClr val="bg1"/>
                </a:solidFill>
              </a:rPr>
              <a:t>Sales was low in </a:t>
            </a:r>
            <a:r>
              <a:rPr lang="en-IN" sz="1400" b="1" dirty="0">
                <a:solidFill>
                  <a:schemeClr val="bg1"/>
                </a:solidFill>
              </a:rPr>
              <a:t>February</a:t>
            </a:r>
            <a:r>
              <a:rPr lang="en-IN" sz="1400" dirty="0">
                <a:solidFill>
                  <a:schemeClr val="bg1"/>
                </a:solidFill>
              </a:rPr>
              <a:t> and </a:t>
            </a:r>
            <a:r>
              <a:rPr lang="en-IN" sz="1400" b="1" dirty="0">
                <a:solidFill>
                  <a:schemeClr val="bg1"/>
                </a:solidFill>
              </a:rPr>
              <a:t>April</a:t>
            </a:r>
            <a:r>
              <a:rPr lang="en-IN" sz="1400" dirty="0">
                <a:solidFill>
                  <a:schemeClr val="bg1"/>
                </a:solidFill>
              </a:rPr>
              <a:t>.</a:t>
            </a:r>
          </a:p>
          <a:p>
            <a:pPr marL="342900" indent="-342900">
              <a:buAutoNum type="arabicPlain"/>
            </a:pPr>
            <a:r>
              <a:rPr lang="en-IN" sz="1400" dirty="0">
                <a:solidFill>
                  <a:schemeClr val="bg1"/>
                </a:solidFill>
              </a:rPr>
              <a:t>Sales increased steadily from </a:t>
            </a:r>
            <a:r>
              <a:rPr lang="en-IN" sz="1400" b="1" dirty="0">
                <a:solidFill>
                  <a:schemeClr val="bg1"/>
                </a:solidFill>
              </a:rPr>
              <a:t>May</a:t>
            </a:r>
            <a:r>
              <a:rPr lang="en-IN" sz="1400" dirty="0">
                <a:solidFill>
                  <a:schemeClr val="bg1"/>
                </a:solidFill>
              </a:rPr>
              <a:t> and reached a peak in </a:t>
            </a:r>
            <a:r>
              <a:rPr lang="en-IN" sz="1400" b="1" dirty="0">
                <a:solidFill>
                  <a:schemeClr val="bg1"/>
                </a:solidFill>
              </a:rPr>
              <a:t>June</a:t>
            </a:r>
            <a:r>
              <a:rPr lang="en-IN" sz="1400" dirty="0">
                <a:solidFill>
                  <a:schemeClr val="bg1"/>
                </a:solidFill>
              </a:rPr>
              <a:t>.</a:t>
            </a:r>
          </a:p>
          <a:p>
            <a:pPr marL="342900" indent="-342900">
              <a:buAutoNum type="arabicPlain"/>
            </a:pPr>
            <a:r>
              <a:rPr lang="en-IN" sz="1400" dirty="0">
                <a:solidFill>
                  <a:schemeClr val="bg1"/>
                </a:solidFill>
              </a:rPr>
              <a:t>Strong sales performance was maintained during </a:t>
            </a:r>
            <a:r>
              <a:rPr lang="en-IN" sz="1400" b="1" dirty="0">
                <a:solidFill>
                  <a:schemeClr val="bg1"/>
                </a:solidFill>
              </a:rPr>
              <a:t>June</a:t>
            </a:r>
            <a:r>
              <a:rPr lang="en-IN" sz="1400" dirty="0">
                <a:solidFill>
                  <a:schemeClr val="bg1"/>
                </a:solidFill>
              </a:rPr>
              <a:t> and </a:t>
            </a:r>
            <a:r>
              <a:rPr lang="en-IN" sz="1400" b="1" dirty="0">
                <a:solidFill>
                  <a:schemeClr val="bg1"/>
                </a:solidFill>
              </a:rPr>
              <a:t>July</a:t>
            </a:r>
            <a:r>
              <a:rPr lang="en-IN" sz="1400" dirty="0">
                <a:solidFill>
                  <a:schemeClr val="bg1"/>
                </a:solidFill>
              </a:rPr>
              <a:t>.</a:t>
            </a:r>
          </a:p>
          <a:p>
            <a:pPr marL="342900" indent="-342900">
              <a:buAutoNum type="arabicPlain"/>
            </a:pPr>
            <a:r>
              <a:rPr lang="en-IN" sz="1400" dirty="0">
                <a:solidFill>
                  <a:schemeClr val="bg1"/>
                </a:solidFill>
              </a:rPr>
              <a:t>Sales declined in </a:t>
            </a:r>
            <a:r>
              <a:rPr lang="en-IN" sz="1400" b="1" dirty="0">
                <a:solidFill>
                  <a:schemeClr val="bg1"/>
                </a:solidFill>
              </a:rPr>
              <a:t>August</a:t>
            </a:r>
          </a:p>
          <a:p>
            <a:pPr marL="342900" indent="-342900">
              <a:buAutoNum type="arabicPlain"/>
            </a:pPr>
            <a:r>
              <a:rPr lang="en-IN" sz="1400" dirty="0">
                <a:solidFill>
                  <a:schemeClr val="bg1"/>
                </a:solidFill>
              </a:rPr>
              <a:t>Sales recovered and performed well in </a:t>
            </a:r>
            <a:r>
              <a:rPr lang="en-IN" sz="1400" b="1" dirty="0">
                <a:solidFill>
                  <a:schemeClr val="bg1"/>
                </a:solidFill>
              </a:rPr>
              <a:t>September</a:t>
            </a:r>
            <a:r>
              <a:rPr lang="en-IN" sz="1400" dirty="0">
                <a:solidFill>
                  <a:schemeClr val="bg1"/>
                </a:solidFill>
              </a:rPr>
              <a:t> and </a:t>
            </a:r>
            <a:r>
              <a:rPr lang="en-IN" sz="1400" b="1" dirty="0">
                <a:solidFill>
                  <a:schemeClr val="bg1"/>
                </a:solidFill>
              </a:rPr>
              <a:t>October</a:t>
            </a:r>
            <a:r>
              <a:rPr lang="en-IN" sz="1400" dirty="0">
                <a:solidFill>
                  <a:schemeClr val="bg1"/>
                </a:solidFill>
              </a:rPr>
              <a:t>.</a:t>
            </a:r>
          </a:p>
          <a:p>
            <a:pPr marL="342900" indent="-342900">
              <a:buAutoNum type="arabicPlain"/>
            </a:pPr>
            <a:r>
              <a:rPr lang="en-IN" sz="1400" dirty="0">
                <a:solidFill>
                  <a:schemeClr val="bg1"/>
                </a:solidFill>
              </a:rPr>
              <a:t>Another drop was observed in </a:t>
            </a:r>
            <a:r>
              <a:rPr lang="en-IN" sz="1400" b="1" dirty="0">
                <a:solidFill>
                  <a:schemeClr val="bg1"/>
                </a:solidFill>
              </a:rPr>
              <a:t>November</a:t>
            </a:r>
          </a:p>
          <a:p>
            <a:pPr marL="342900" indent="-342900">
              <a:buAutoNum type="arabicPlain"/>
            </a:pPr>
            <a:r>
              <a:rPr lang="en-IN" sz="1400" dirty="0">
                <a:solidFill>
                  <a:schemeClr val="bg1"/>
                </a:solidFill>
              </a:rPr>
              <a:t>Sales improved again in </a:t>
            </a:r>
            <a:r>
              <a:rPr lang="en-IN" sz="1400" b="1" dirty="0">
                <a:solidFill>
                  <a:schemeClr val="bg1"/>
                </a:solidFill>
              </a:rPr>
              <a:t>December</a:t>
            </a:r>
          </a:p>
          <a:p>
            <a:pPr marL="342900" indent="-342900">
              <a:buAutoNum type="arabicPlain"/>
            </a:pPr>
            <a:r>
              <a:rPr lang="en-IN" sz="1400" dirty="0">
                <a:solidFill>
                  <a:schemeClr val="bg1"/>
                </a:solidFill>
              </a:rPr>
              <a:t>Overall, the highest sales were recorded in </a:t>
            </a:r>
            <a:r>
              <a:rPr lang="en-IN" sz="1400" b="1" dirty="0">
                <a:solidFill>
                  <a:schemeClr val="bg1"/>
                </a:solidFill>
              </a:rPr>
              <a:t>June, July, September, and October</a:t>
            </a:r>
            <a:r>
              <a:rPr lang="en-IN" sz="1400" dirty="0">
                <a:solidFill>
                  <a:schemeClr val="bg1"/>
                </a:solidFill>
              </a:rPr>
              <a:t>.</a:t>
            </a:r>
          </a:p>
        </p:txBody>
      </p:sp>
    </p:spTree>
    <p:extLst>
      <p:ext uri="{BB962C8B-B14F-4D97-AF65-F5344CB8AC3E}">
        <p14:creationId xmlns:p14="http://schemas.microsoft.com/office/powerpoint/2010/main" val="4066558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hape 31">
            <a:extLst>
              <a:ext uri="{FF2B5EF4-FFF2-40B4-BE49-F238E27FC236}">
                <a16:creationId xmlns:a16="http://schemas.microsoft.com/office/drawing/2014/main" id="{223A7190-D4FD-CE18-7363-9A8A003BBD71}"/>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67" name="Shape 32">
            <a:extLst>
              <a:ext uri="{FF2B5EF4-FFF2-40B4-BE49-F238E27FC236}">
                <a16:creationId xmlns:a16="http://schemas.microsoft.com/office/drawing/2014/main" id="{3E5923D4-5432-AC48-BD7B-E4C27D0BDAAD}"/>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69" name="Text 33">
            <a:extLst>
              <a:ext uri="{FF2B5EF4-FFF2-40B4-BE49-F238E27FC236}">
                <a16:creationId xmlns:a16="http://schemas.microsoft.com/office/drawing/2014/main" id="{D8C0F7BA-7BC1-75D8-199B-F719E246CF72}"/>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Q5  </a:t>
            </a:r>
            <a:r>
              <a:rPr lang="en-IN" sz="1400" dirty="0">
                <a:solidFill>
                  <a:schemeClr val="bg1"/>
                </a:solidFill>
              </a:rPr>
              <a:t>Which territories contribute the most revenue and profit?</a:t>
            </a:r>
            <a:endParaRPr lang="en-US" sz="1300" dirty="0">
              <a:solidFill>
                <a:schemeClr val="bg1"/>
              </a:solidFill>
            </a:endParaRPr>
          </a:p>
        </p:txBody>
      </p:sp>
      <p:pic>
        <p:nvPicPr>
          <p:cNvPr id="4" name="Picture 3">
            <a:extLst>
              <a:ext uri="{FF2B5EF4-FFF2-40B4-BE49-F238E27FC236}">
                <a16:creationId xmlns:a16="http://schemas.microsoft.com/office/drawing/2014/main" id="{7BFDDA34-D83B-A7C1-DF62-83E1049B84AB}"/>
              </a:ext>
            </a:extLst>
          </p:cNvPr>
          <p:cNvPicPr>
            <a:picLocks noChangeAspect="1"/>
          </p:cNvPicPr>
          <p:nvPr/>
        </p:nvPicPr>
        <p:blipFill>
          <a:blip r:embed="rId2"/>
          <a:srcRect t="1955"/>
          <a:stretch>
            <a:fillRect/>
          </a:stretch>
        </p:blipFill>
        <p:spPr>
          <a:xfrm>
            <a:off x="5627" y="696349"/>
            <a:ext cx="5881702" cy="3138113"/>
          </a:xfrm>
          <a:prstGeom prst="rect">
            <a:avLst/>
          </a:prstGeom>
          <a:ln>
            <a:solidFill>
              <a:schemeClr val="tx1"/>
            </a:solidFill>
          </a:ln>
        </p:spPr>
      </p:pic>
      <p:pic>
        <p:nvPicPr>
          <p:cNvPr id="8" name="Picture 7">
            <a:extLst>
              <a:ext uri="{FF2B5EF4-FFF2-40B4-BE49-F238E27FC236}">
                <a16:creationId xmlns:a16="http://schemas.microsoft.com/office/drawing/2014/main" id="{DDD8703A-6954-93A6-819B-17334C24D806}"/>
              </a:ext>
            </a:extLst>
          </p:cNvPr>
          <p:cNvPicPr>
            <a:picLocks noChangeAspect="1"/>
          </p:cNvPicPr>
          <p:nvPr/>
        </p:nvPicPr>
        <p:blipFill>
          <a:blip r:embed="rId3"/>
          <a:stretch>
            <a:fillRect/>
          </a:stretch>
        </p:blipFill>
        <p:spPr>
          <a:xfrm>
            <a:off x="6287279" y="696349"/>
            <a:ext cx="2644369" cy="1958510"/>
          </a:xfrm>
          <a:prstGeom prst="rect">
            <a:avLst/>
          </a:prstGeom>
          <a:ln>
            <a:solidFill>
              <a:schemeClr val="tx1"/>
            </a:solidFill>
          </a:ln>
        </p:spPr>
      </p:pic>
      <p:pic>
        <p:nvPicPr>
          <p:cNvPr id="12" name="Picture 11">
            <a:extLst>
              <a:ext uri="{FF2B5EF4-FFF2-40B4-BE49-F238E27FC236}">
                <a16:creationId xmlns:a16="http://schemas.microsoft.com/office/drawing/2014/main" id="{39F33F0B-7504-52EA-15F1-47C8D3CC5FB2}"/>
              </a:ext>
            </a:extLst>
          </p:cNvPr>
          <p:cNvPicPr>
            <a:picLocks noChangeAspect="1"/>
          </p:cNvPicPr>
          <p:nvPr/>
        </p:nvPicPr>
        <p:blipFill>
          <a:blip r:embed="rId4"/>
          <a:stretch>
            <a:fillRect/>
          </a:stretch>
        </p:blipFill>
        <p:spPr>
          <a:xfrm>
            <a:off x="6287279" y="2973327"/>
            <a:ext cx="2309060" cy="861135"/>
          </a:xfrm>
          <a:prstGeom prst="rect">
            <a:avLst/>
          </a:prstGeom>
          <a:ln>
            <a:solidFill>
              <a:schemeClr val="tx1"/>
            </a:solidFill>
          </a:ln>
        </p:spPr>
      </p:pic>
      <p:sp>
        <p:nvSpPr>
          <p:cNvPr id="14" name="TextBox 13">
            <a:extLst>
              <a:ext uri="{FF2B5EF4-FFF2-40B4-BE49-F238E27FC236}">
                <a16:creationId xmlns:a16="http://schemas.microsoft.com/office/drawing/2014/main" id="{EBC9B9AF-2DD6-8F26-877A-6667A7AC2811}"/>
              </a:ext>
            </a:extLst>
          </p:cNvPr>
          <p:cNvSpPr txBox="1"/>
          <p:nvPr/>
        </p:nvSpPr>
        <p:spPr>
          <a:xfrm>
            <a:off x="98473" y="3960421"/>
            <a:ext cx="8897816" cy="1015663"/>
          </a:xfrm>
          <a:prstGeom prst="rect">
            <a:avLst/>
          </a:prstGeom>
          <a:solidFill>
            <a:srgbClr val="000018"/>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IN" sz="1200" b="1" u="sng" dirty="0">
                <a:solidFill>
                  <a:schemeClr val="bg1"/>
                </a:solidFill>
              </a:rPr>
              <a:t>KEY INSIGHTS :</a:t>
            </a:r>
          </a:p>
          <a:p>
            <a:pPr marL="228600" indent="-228600">
              <a:buAutoNum type="arabicPeriod"/>
            </a:pPr>
            <a:r>
              <a:rPr lang="en-IN" sz="1200" dirty="0">
                <a:solidFill>
                  <a:schemeClr val="bg1"/>
                </a:solidFill>
              </a:rPr>
              <a:t>Most revenue and profit generated by southwest with Revenue</a:t>
            </a:r>
            <a:r>
              <a:rPr lang="en-IN" sz="1200" b="1" dirty="0">
                <a:solidFill>
                  <a:schemeClr val="bg1"/>
                </a:solidFill>
              </a:rPr>
              <a:t> ($24.18M)</a:t>
            </a:r>
            <a:r>
              <a:rPr lang="en-IN" sz="1200" dirty="0">
                <a:solidFill>
                  <a:schemeClr val="bg1"/>
                </a:solidFill>
              </a:rPr>
              <a:t> and the highest profit </a:t>
            </a:r>
            <a:r>
              <a:rPr lang="en-IN" sz="1200" b="1" dirty="0">
                <a:solidFill>
                  <a:schemeClr val="bg1"/>
                </a:solidFill>
              </a:rPr>
              <a:t>($1.56M)</a:t>
            </a:r>
          </a:p>
          <a:p>
            <a:pPr marL="228600" indent="-228600">
              <a:buAutoNum type="arabicPeriod"/>
            </a:pPr>
            <a:r>
              <a:rPr lang="en-IN" sz="1200" dirty="0">
                <a:solidFill>
                  <a:schemeClr val="bg1"/>
                </a:solidFill>
              </a:rPr>
              <a:t>On The Second Place We have Canada with Revenue  </a:t>
            </a:r>
            <a:r>
              <a:rPr lang="en-IN" sz="1200" b="1" dirty="0">
                <a:solidFill>
                  <a:schemeClr val="bg1"/>
                </a:solidFill>
              </a:rPr>
              <a:t>($16.35M)</a:t>
            </a:r>
            <a:r>
              <a:rPr lang="en-IN" sz="1200" dirty="0">
                <a:solidFill>
                  <a:schemeClr val="bg1"/>
                </a:solidFill>
              </a:rPr>
              <a:t> and the profit</a:t>
            </a:r>
            <a:r>
              <a:rPr lang="en-IN" sz="1200" b="1" dirty="0">
                <a:solidFill>
                  <a:schemeClr val="bg1"/>
                </a:solidFill>
              </a:rPr>
              <a:t> ($0.40M)</a:t>
            </a:r>
          </a:p>
          <a:p>
            <a:r>
              <a:rPr lang="en-IN" sz="1200" b="1" dirty="0">
                <a:solidFill>
                  <a:schemeClr val="bg1"/>
                </a:solidFill>
              </a:rPr>
              <a:t>We should focus on :</a:t>
            </a:r>
          </a:p>
          <a:p>
            <a:r>
              <a:rPr lang="en-IN" sz="1200" dirty="0">
                <a:solidFill>
                  <a:schemeClr val="bg1"/>
                </a:solidFill>
              </a:rPr>
              <a:t>1. There are Three Territories With negative Profit But This Territories have Good Revenue</a:t>
            </a:r>
          </a:p>
        </p:txBody>
      </p:sp>
    </p:spTree>
    <p:extLst>
      <p:ext uri="{BB962C8B-B14F-4D97-AF65-F5344CB8AC3E}">
        <p14:creationId xmlns:p14="http://schemas.microsoft.com/office/powerpoint/2010/main" val="3428045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0367253D-D791-23FB-EC94-40A704D1BA76}"/>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4C973E1C-553D-6089-86EF-A445A392F6E1}"/>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867E3371-2B44-A6DA-25A5-4A9ED929459D}"/>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Q6  </a:t>
            </a:r>
            <a:r>
              <a:rPr lang="en-IN" sz="1400" dirty="0">
                <a:solidFill>
                  <a:schemeClr val="bg1"/>
                </a:solidFill>
              </a:rPr>
              <a:t>Who are the top 10 customers by lifetime value (LTV)?</a:t>
            </a:r>
            <a:r>
              <a:rPr lang="en-US" sz="13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pic>
        <p:nvPicPr>
          <p:cNvPr id="17" name="Picture 16">
            <a:extLst>
              <a:ext uri="{FF2B5EF4-FFF2-40B4-BE49-F238E27FC236}">
                <a16:creationId xmlns:a16="http://schemas.microsoft.com/office/drawing/2014/main" id="{B10A4124-AD52-FB45-D52C-269ADEB53545}"/>
              </a:ext>
            </a:extLst>
          </p:cNvPr>
          <p:cNvPicPr>
            <a:picLocks noChangeAspect="1"/>
          </p:cNvPicPr>
          <p:nvPr/>
        </p:nvPicPr>
        <p:blipFill>
          <a:blip r:embed="rId2"/>
          <a:srcRect t="2232"/>
          <a:stretch>
            <a:fillRect/>
          </a:stretch>
        </p:blipFill>
        <p:spPr>
          <a:xfrm>
            <a:off x="55567" y="731521"/>
            <a:ext cx="5779100" cy="2182842"/>
          </a:xfrm>
          <a:prstGeom prst="rect">
            <a:avLst/>
          </a:prstGeom>
          <a:solidFill>
            <a:srgbClr val="000018"/>
          </a:solidFill>
          <a:ln>
            <a:solidFill>
              <a:schemeClr val="tx1"/>
            </a:solidFill>
          </a:ln>
        </p:spPr>
      </p:pic>
      <p:pic>
        <p:nvPicPr>
          <p:cNvPr id="19" name="Picture 18">
            <a:extLst>
              <a:ext uri="{FF2B5EF4-FFF2-40B4-BE49-F238E27FC236}">
                <a16:creationId xmlns:a16="http://schemas.microsoft.com/office/drawing/2014/main" id="{58EABBEB-AB4C-E3F0-A49F-FBE5295C04BD}"/>
              </a:ext>
            </a:extLst>
          </p:cNvPr>
          <p:cNvPicPr>
            <a:picLocks noChangeAspect="1"/>
          </p:cNvPicPr>
          <p:nvPr/>
        </p:nvPicPr>
        <p:blipFill>
          <a:blip r:embed="rId3"/>
          <a:stretch>
            <a:fillRect/>
          </a:stretch>
        </p:blipFill>
        <p:spPr>
          <a:xfrm>
            <a:off x="6945558" y="955853"/>
            <a:ext cx="1653683" cy="1958510"/>
          </a:xfrm>
          <a:prstGeom prst="rect">
            <a:avLst/>
          </a:prstGeom>
          <a:ln>
            <a:solidFill>
              <a:schemeClr val="tx1"/>
            </a:solidFill>
          </a:ln>
        </p:spPr>
      </p:pic>
      <p:sp>
        <p:nvSpPr>
          <p:cNvPr id="20" name="TextBox 19">
            <a:extLst>
              <a:ext uri="{FF2B5EF4-FFF2-40B4-BE49-F238E27FC236}">
                <a16:creationId xmlns:a16="http://schemas.microsoft.com/office/drawing/2014/main" id="{D5F52190-D4D3-2A7C-5CAA-425694BC8925}"/>
              </a:ext>
            </a:extLst>
          </p:cNvPr>
          <p:cNvSpPr txBox="1"/>
          <p:nvPr/>
        </p:nvSpPr>
        <p:spPr>
          <a:xfrm>
            <a:off x="182880" y="3344086"/>
            <a:ext cx="8714935" cy="954107"/>
          </a:xfrm>
          <a:prstGeom prst="rect">
            <a:avLst/>
          </a:prstGeom>
          <a:solidFill>
            <a:srgbClr val="000018"/>
          </a:solidFill>
        </p:spPr>
        <p:style>
          <a:lnRef idx="2">
            <a:schemeClr val="dk1"/>
          </a:lnRef>
          <a:fillRef idx="1">
            <a:schemeClr val="lt1"/>
          </a:fillRef>
          <a:effectRef idx="0">
            <a:schemeClr val="dk1"/>
          </a:effectRef>
          <a:fontRef idx="minor">
            <a:schemeClr val="dk1"/>
          </a:fontRef>
        </p:style>
        <p:txBody>
          <a:bodyPr wrap="square" rtlCol="0">
            <a:spAutoFit/>
          </a:bodyPr>
          <a:lstStyle>
            <a:lvl1pPr>
              <a:defRPr sz="1200" b="1">
                <a:solidFill>
                  <a:schemeClr val="bg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sz="1400" u="sng" dirty="0"/>
              <a:t>Key Insights  :</a:t>
            </a:r>
          </a:p>
          <a:p>
            <a:r>
              <a:rPr lang="en-IN" sz="1400" dirty="0"/>
              <a:t>Customer ID 29818 is the top customer, generating $877K in total sales. </a:t>
            </a:r>
          </a:p>
          <a:p>
            <a:r>
              <a:rPr lang="en-IN" sz="1400" dirty="0"/>
              <a:t>The top 3 customers each contributed more than $840K in sales. </a:t>
            </a:r>
          </a:p>
          <a:p>
            <a:r>
              <a:rPr lang="en-IN" sz="1400" dirty="0"/>
              <a:t>All top 10 customers generated  $727K in total sales.</a:t>
            </a:r>
          </a:p>
        </p:txBody>
      </p:sp>
    </p:spTree>
    <p:extLst>
      <p:ext uri="{BB962C8B-B14F-4D97-AF65-F5344CB8AC3E}">
        <p14:creationId xmlns:p14="http://schemas.microsoft.com/office/powerpoint/2010/main" val="1919390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B8530E39-4D58-1AE4-8B86-77C24C78A217}"/>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EDA78CDA-C215-4F2A-A970-3DAB2E9845FF}"/>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F436EEBE-BD2A-6234-440B-02198628F05B}"/>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Q7   </a:t>
            </a:r>
            <a:r>
              <a:rPr lang="en-IN" sz="1400" dirty="0">
                <a:solidFill>
                  <a:schemeClr val="bg1"/>
                </a:solidFill>
              </a:rPr>
              <a:t>What percentage of total revenue comes from the top 20% of customers?</a:t>
            </a:r>
            <a:r>
              <a:rPr lang="en-US" sz="13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pic>
        <p:nvPicPr>
          <p:cNvPr id="15" name="Picture 14">
            <a:extLst>
              <a:ext uri="{FF2B5EF4-FFF2-40B4-BE49-F238E27FC236}">
                <a16:creationId xmlns:a16="http://schemas.microsoft.com/office/drawing/2014/main" id="{84EE7253-198A-8AB7-560E-2DF0436376C2}"/>
              </a:ext>
            </a:extLst>
          </p:cNvPr>
          <p:cNvPicPr>
            <a:picLocks noChangeAspect="1"/>
          </p:cNvPicPr>
          <p:nvPr/>
        </p:nvPicPr>
        <p:blipFill>
          <a:blip r:embed="rId2"/>
          <a:srcRect t="1733"/>
          <a:stretch>
            <a:fillRect/>
          </a:stretch>
        </p:blipFill>
        <p:spPr>
          <a:xfrm>
            <a:off x="0" y="653443"/>
            <a:ext cx="7138771" cy="3287972"/>
          </a:xfrm>
          <a:prstGeom prst="rect">
            <a:avLst/>
          </a:prstGeom>
          <a:ln>
            <a:solidFill>
              <a:schemeClr val="tx1"/>
            </a:solidFill>
          </a:ln>
        </p:spPr>
      </p:pic>
      <p:pic>
        <p:nvPicPr>
          <p:cNvPr id="17" name="Picture 16">
            <a:extLst>
              <a:ext uri="{FF2B5EF4-FFF2-40B4-BE49-F238E27FC236}">
                <a16:creationId xmlns:a16="http://schemas.microsoft.com/office/drawing/2014/main" id="{8D346142-0640-0A12-0364-3131737F3BDB}"/>
              </a:ext>
            </a:extLst>
          </p:cNvPr>
          <p:cNvPicPr>
            <a:picLocks noChangeAspect="1"/>
          </p:cNvPicPr>
          <p:nvPr/>
        </p:nvPicPr>
        <p:blipFill>
          <a:blip r:embed="rId3"/>
          <a:stretch>
            <a:fillRect/>
          </a:stretch>
        </p:blipFill>
        <p:spPr>
          <a:xfrm>
            <a:off x="54864" y="4118549"/>
            <a:ext cx="2529339" cy="606205"/>
          </a:xfrm>
          <a:prstGeom prst="rect">
            <a:avLst/>
          </a:prstGeom>
          <a:ln>
            <a:solidFill>
              <a:schemeClr val="tx1"/>
            </a:solidFill>
          </a:ln>
        </p:spPr>
      </p:pic>
      <p:sp>
        <p:nvSpPr>
          <p:cNvPr id="18" name="TextBox 17">
            <a:extLst>
              <a:ext uri="{FF2B5EF4-FFF2-40B4-BE49-F238E27FC236}">
                <a16:creationId xmlns:a16="http://schemas.microsoft.com/office/drawing/2014/main" id="{1266B136-1E21-9813-886F-A6013465D013}"/>
              </a:ext>
            </a:extLst>
          </p:cNvPr>
          <p:cNvSpPr txBox="1"/>
          <p:nvPr/>
        </p:nvSpPr>
        <p:spPr>
          <a:xfrm>
            <a:off x="2799471" y="4068728"/>
            <a:ext cx="6289665" cy="738664"/>
          </a:xfrm>
          <a:prstGeom prst="rect">
            <a:avLst/>
          </a:prstGeom>
          <a:solidFill>
            <a:srgbClr val="000018"/>
          </a:solidFill>
        </p:spPr>
        <p:style>
          <a:lnRef idx="2">
            <a:schemeClr val="dk1"/>
          </a:lnRef>
          <a:fillRef idx="1">
            <a:schemeClr val="lt1"/>
          </a:fillRef>
          <a:effectRef idx="0">
            <a:schemeClr val="dk1"/>
          </a:effectRef>
          <a:fontRef idx="minor">
            <a:schemeClr val="dk1"/>
          </a:fontRef>
        </p:style>
        <p:txBody>
          <a:bodyPr wrap="square" rtlCol="0">
            <a:spAutoFit/>
          </a:bodyPr>
          <a:lstStyle>
            <a:lvl1pPr>
              <a:defRPr sz="1400" b="1" u="sng">
                <a:solidFill>
                  <a:schemeClr val="bg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dirty="0"/>
              <a:t>Key Insight :</a:t>
            </a:r>
          </a:p>
          <a:p>
            <a:r>
              <a:rPr lang="en-IN" b="0" u="none" dirty="0"/>
              <a:t>On the Analysis I observed That 90 % Revenue Was generating by the Top 20 % people </a:t>
            </a:r>
          </a:p>
        </p:txBody>
      </p:sp>
    </p:spTree>
    <p:extLst>
      <p:ext uri="{BB962C8B-B14F-4D97-AF65-F5344CB8AC3E}">
        <p14:creationId xmlns:p14="http://schemas.microsoft.com/office/powerpoint/2010/main" val="1996589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C4C6E686-622C-0B42-0F0E-8C784447A850}"/>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6CAC2723-BE7B-88D1-CD2C-27986D08CC61}"/>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825B80BA-C9DA-518F-2642-58D4231F991E}"/>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Q8  </a:t>
            </a:r>
            <a:r>
              <a:rPr lang="en-IN" sz="1400" dirty="0">
                <a:solidFill>
                  <a:schemeClr val="bg1"/>
                </a:solidFill>
              </a:rPr>
              <a:t>Which customer segments generate the highest average order value</a:t>
            </a:r>
            <a:r>
              <a:rPr lang="en-US" sz="13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sp>
        <p:nvSpPr>
          <p:cNvPr id="2" name="TextBox 1">
            <a:extLst>
              <a:ext uri="{FF2B5EF4-FFF2-40B4-BE49-F238E27FC236}">
                <a16:creationId xmlns:a16="http://schemas.microsoft.com/office/drawing/2014/main" id="{0A678750-FB8F-5574-70F8-51F62DC0781D}"/>
              </a:ext>
            </a:extLst>
          </p:cNvPr>
          <p:cNvSpPr txBox="1"/>
          <p:nvPr/>
        </p:nvSpPr>
        <p:spPr>
          <a:xfrm>
            <a:off x="182880" y="4297680"/>
            <a:ext cx="8813409" cy="646331"/>
          </a:xfrm>
          <a:prstGeom prst="rect">
            <a:avLst/>
          </a:prstGeom>
          <a:solidFill>
            <a:srgbClr val="0F1B2D"/>
          </a:solidFill>
          <a:ln w="12700">
            <a:solidFill>
              <a:srgbClr val="0F1B2D"/>
            </a:solidFill>
            <a:prstDash val="solid"/>
          </a:ln>
        </p:spPr>
        <p:txBody>
          <a:bodyPr/>
          <a:lstStyle/>
          <a:p>
            <a:r>
              <a:rPr lang="en-IN" b="1" u="sng" dirty="0">
                <a:solidFill>
                  <a:schemeClr val="bg1"/>
                </a:solidFill>
              </a:rPr>
              <a:t>Conclusion: </a:t>
            </a:r>
            <a:r>
              <a:rPr lang="en-IN" dirty="0">
                <a:solidFill>
                  <a:schemeClr val="bg1"/>
                </a:solidFill>
              </a:rPr>
              <a:t>Individual customers had an average order value of 3491.07. Store customers had no orders, so they were not included in the analysis.</a:t>
            </a:r>
          </a:p>
        </p:txBody>
      </p:sp>
      <p:pic>
        <p:nvPicPr>
          <p:cNvPr id="6" name="Picture 5">
            <a:extLst>
              <a:ext uri="{FF2B5EF4-FFF2-40B4-BE49-F238E27FC236}">
                <a16:creationId xmlns:a16="http://schemas.microsoft.com/office/drawing/2014/main" id="{1091E598-C3FF-EC82-8580-5AFDF811E8E4}"/>
              </a:ext>
            </a:extLst>
          </p:cNvPr>
          <p:cNvPicPr>
            <a:picLocks noChangeAspect="1"/>
          </p:cNvPicPr>
          <p:nvPr/>
        </p:nvPicPr>
        <p:blipFill>
          <a:blip r:embed="rId2"/>
          <a:srcRect l="1039" t="3020"/>
          <a:stretch>
            <a:fillRect/>
          </a:stretch>
        </p:blipFill>
        <p:spPr>
          <a:xfrm>
            <a:off x="154744" y="703384"/>
            <a:ext cx="8046720" cy="2158021"/>
          </a:xfrm>
          <a:prstGeom prst="rect">
            <a:avLst/>
          </a:prstGeom>
          <a:ln>
            <a:solidFill>
              <a:schemeClr val="tx1"/>
            </a:solidFill>
          </a:ln>
        </p:spPr>
      </p:pic>
      <p:pic>
        <p:nvPicPr>
          <p:cNvPr id="9" name="Picture 8">
            <a:extLst>
              <a:ext uri="{FF2B5EF4-FFF2-40B4-BE49-F238E27FC236}">
                <a16:creationId xmlns:a16="http://schemas.microsoft.com/office/drawing/2014/main" id="{B478D749-9A62-F9C8-7472-F0360A21B194}"/>
              </a:ext>
            </a:extLst>
          </p:cNvPr>
          <p:cNvPicPr>
            <a:picLocks noChangeAspect="1"/>
          </p:cNvPicPr>
          <p:nvPr/>
        </p:nvPicPr>
        <p:blipFill>
          <a:blip r:embed="rId3"/>
          <a:stretch>
            <a:fillRect/>
          </a:stretch>
        </p:blipFill>
        <p:spPr>
          <a:xfrm>
            <a:off x="1003396" y="3216259"/>
            <a:ext cx="2255715" cy="726567"/>
          </a:xfrm>
          <a:prstGeom prst="rect">
            <a:avLst/>
          </a:prstGeom>
          <a:ln>
            <a:solidFill>
              <a:schemeClr val="tx1"/>
            </a:solidFill>
          </a:ln>
        </p:spPr>
      </p:pic>
    </p:spTree>
    <p:extLst>
      <p:ext uri="{BB962C8B-B14F-4D97-AF65-F5344CB8AC3E}">
        <p14:creationId xmlns:p14="http://schemas.microsoft.com/office/powerpoint/2010/main" val="1226523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CA027B96-EAD8-27DE-EC63-A6517598EAE7}"/>
              </a:ext>
            </a:extLst>
          </p:cNvPr>
          <p:cNvSpPr/>
          <p:nvPr/>
        </p:nvSpPr>
        <p:spPr>
          <a:xfrm>
            <a:off x="0" y="-49237"/>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0499EEE5-6467-66C9-0FB8-2398700B2A99}"/>
              </a:ext>
            </a:extLst>
          </p:cNvPr>
          <p:cNvSpPr/>
          <p:nvPr/>
        </p:nvSpPr>
        <p:spPr>
          <a:xfrm>
            <a:off x="0" y="-49238"/>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45EA2686-B8E6-9D80-2BFE-B6655484E75A}"/>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Q9  </a:t>
            </a:r>
            <a:r>
              <a:rPr lang="en-IN" sz="1400" dirty="0">
                <a:solidFill>
                  <a:schemeClr val="bg1"/>
                </a:solidFill>
              </a:rPr>
              <a:t>Which products generate the highest profit, not just revenue?</a:t>
            </a:r>
            <a:r>
              <a:rPr lang="en-US" sz="13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pic>
        <p:nvPicPr>
          <p:cNvPr id="9" name="Picture 8">
            <a:extLst>
              <a:ext uri="{FF2B5EF4-FFF2-40B4-BE49-F238E27FC236}">
                <a16:creationId xmlns:a16="http://schemas.microsoft.com/office/drawing/2014/main" id="{8BC4F446-75FF-A261-12B1-AD674A24059F}"/>
              </a:ext>
            </a:extLst>
          </p:cNvPr>
          <p:cNvPicPr>
            <a:picLocks noChangeAspect="1"/>
          </p:cNvPicPr>
          <p:nvPr/>
        </p:nvPicPr>
        <p:blipFill>
          <a:blip r:embed="rId2"/>
          <a:srcRect l="3473" t="2502" b="1"/>
          <a:stretch>
            <a:fillRect/>
          </a:stretch>
        </p:blipFill>
        <p:spPr>
          <a:xfrm>
            <a:off x="0" y="652741"/>
            <a:ext cx="6428935" cy="2195967"/>
          </a:xfrm>
          <a:prstGeom prst="rect">
            <a:avLst/>
          </a:prstGeom>
          <a:ln>
            <a:solidFill>
              <a:schemeClr val="tx1"/>
            </a:solidFill>
          </a:ln>
        </p:spPr>
      </p:pic>
      <p:pic>
        <p:nvPicPr>
          <p:cNvPr id="11" name="Picture 10">
            <a:extLst>
              <a:ext uri="{FF2B5EF4-FFF2-40B4-BE49-F238E27FC236}">
                <a16:creationId xmlns:a16="http://schemas.microsoft.com/office/drawing/2014/main" id="{6048B82E-0A00-0D24-B927-E07C805F1CB7}"/>
              </a:ext>
            </a:extLst>
          </p:cNvPr>
          <p:cNvPicPr>
            <a:picLocks noChangeAspect="1"/>
          </p:cNvPicPr>
          <p:nvPr/>
        </p:nvPicPr>
        <p:blipFill>
          <a:blip r:embed="rId3"/>
          <a:srcRect t="1447" b="31491"/>
          <a:stretch>
            <a:fillRect/>
          </a:stretch>
        </p:blipFill>
        <p:spPr>
          <a:xfrm>
            <a:off x="6428934" y="701977"/>
            <a:ext cx="2715065" cy="2280373"/>
          </a:xfrm>
          <a:prstGeom prst="rect">
            <a:avLst/>
          </a:prstGeom>
          <a:ln>
            <a:solidFill>
              <a:schemeClr val="tx1"/>
            </a:solidFill>
          </a:ln>
        </p:spPr>
      </p:pic>
      <p:sp>
        <p:nvSpPr>
          <p:cNvPr id="17" name="TextBox 16">
            <a:extLst>
              <a:ext uri="{FF2B5EF4-FFF2-40B4-BE49-F238E27FC236}">
                <a16:creationId xmlns:a16="http://schemas.microsoft.com/office/drawing/2014/main" id="{CDE2FB88-1E2D-A4AD-AB59-203CF083F7A2}"/>
              </a:ext>
            </a:extLst>
          </p:cNvPr>
          <p:cNvSpPr txBox="1"/>
          <p:nvPr/>
        </p:nvSpPr>
        <p:spPr>
          <a:xfrm>
            <a:off x="182880" y="3687419"/>
            <a:ext cx="8714935" cy="738664"/>
          </a:xfrm>
          <a:prstGeom prst="rect">
            <a:avLst/>
          </a:prstGeom>
          <a:solidFill>
            <a:srgbClr val="000018"/>
          </a:solidFill>
        </p:spPr>
        <p:style>
          <a:lnRef idx="2">
            <a:schemeClr val="dk1"/>
          </a:lnRef>
          <a:fillRef idx="1">
            <a:schemeClr val="lt1"/>
          </a:fillRef>
          <a:effectRef idx="0">
            <a:schemeClr val="dk1"/>
          </a:effectRef>
          <a:fontRef idx="minor">
            <a:schemeClr val="dk1"/>
          </a:fontRef>
        </p:style>
        <p:txBody>
          <a:bodyPr wrap="square" rtlCol="0">
            <a:spAutoFit/>
          </a:bodyPr>
          <a:lstStyle>
            <a:lvl1pPr>
              <a:defRPr sz="1200" b="1">
                <a:solidFill>
                  <a:schemeClr val="bg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IN" sz="1400" u="sng" dirty="0"/>
              <a:t>Key Insights  </a:t>
            </a:r>
            <a:endParaRPr lang="en-IN" sz="1400" dirty="0"/>
          </a:p>
          <a:p>
            <a:r>
              <a:rPr lang="en-IN" sz="1400" dirty="0"/>
              <a:t>Mountain-200 Black,42 generated the highest total profit of 674,218.38, making it the most profitable product</a:t>
            </a:r>
          </a:p>
          <a:p>
            <a:r>
              <a:rPr lang="en-IN" sz="1400" dirty="0"/>
              <a:t>On the Second Place We have Mountain-200 Black,38 With Total profit of 673,446.33 </a:t>
            </a:r>
          </a:p>
        </p:txBody>
      </p:sp>
    </p:spTree>
    <p:extLst>
      <p:ext uri="{BB962C8B-B14F-4D97-AF65-F5344CB8AC3E}">
        <p14:creationId xmlns:p14="http://schemas.microsoft.com/office/powerpoint/2010/main" val="1124766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B366CDFC-E04D-4D2F-CBA3-C8228FF7B611}"/>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30C0ED11-9346-4EDD-9B6D-56EAE92B3D2D}"/>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17A0971B-6A46-9692-5DC4-CFF6ECA5F663}"/>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Q10  </a:t>
            </a:r>
            <a:r>
              <a:rPr lang="en-IN" sz="1600" dirty="0">
                <a:solidFill>
                  <a:schemeClr val="bg1"/>
                </a:solidFill>
              </a:rPr>
              <a:t>Which products has low sales in the top category</a:t>
            </a:r>
            <a:r>
              <a:rPr lang="en-US" sz="12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sp>
        <p:nvSpPr>
          <p:cNvPr id="2" name="TextBox 1">
            <a:extLst>
              <a:ext uri="{FF2B5EF4-FFF2-40B4-BE49-F238E27FC236}">
                <a16:creationId xmlns:a16="http://schemas.microsoft.com/office/drawing/2014/main" id="{28D41DFC-32D6-CE15-F341-7889CA94BC8E}"/>
              </a:ext>
            </a:extLst>
          </p:cNvPr>
          <p:cNvSpPr txBox="1"/>
          <p:nvPr/>
        </p:nvSpPr>
        <p:spPr>
          <a:xfrm>
            <a:off x="54864" y="4276578"/>
            <a:ext cx="8997696" cy="523220"/>
          </a:xfrm>
          <a:prstGeom prst="rect">
            <a:avLst/>
          </a:prstGeom>
          <a:solidFill>
            <a:srgbClr val="0F1B2D"/>
          </a:solidFill>
          <a:ln w="12700">
            <a:solidFill>
              <a:srgbClr val="0F1B2D"/>
            </a:solidFill>
            <a:prstDash val="solid"/>
          </a:ln>
        </p:spPr>
        <p:txBody>
          <a:bodyPr/>
          <a:lstStyle/>
          <a:p>
            <a:r>
              <a:rPr lang="en-IN" b="1" u="sng" dirty="0">
                <a:solidFill>
                  <a:schemeClr val="bg1"/>
                </a:solidFill>
              </a:rPr>
              <a:t>Conclusion</a:t>
            </a:r>
            <a:r>
              <a:rPr lang="en-IN" sz="1600" dirty="0">
                <a:solidFill>
                  <a:schemeClr val="bg1"/>
                </a:solidFill>
              </a:rPr>
              <a:t>: The Mountain-500 Black, 52 generated the lowest sales among all bike products. These low-selling products may need better marketing, discounts to Improve Sales</a:t>
            </a:r>
          </a:p>
        </p:txBody>
      </p:sp>
      <p:pic>
        <p:nvPicPr>
          <p:cNvPr id="6" name="Picture 5">
            <a:extLst>
              <a:ext uri="{FF2B5EF4-FFF2-40B4-BE49-F238E27FC236}">
                <a16:creationId xmlns:a16="http://schemas.microsoft.com/office/drawing/2014/main" id="{AEE60AF2-7E99-8C6B-F629-AD9B00BB0000}"/>
              </a:ext>
            </a:extLst>
          </p:cNvPr>
          <p:cNvPicPr>
            <a:picLocks noChangeAspect="1"/>
          </p:cNvPicPr>
          <p:nvPr/>
        </p:nvPicPr>
        <p:blipFill>
          <a:blip r:embed="rId2"/>
          <a:stretch>
            <a:fillRect/>
          </a:stretch>
        </p:blipFill>
        <p:spPr>
          <a:xfrm>
            <a:off x="54864" y="916917"/>
            <a:ext cx="5765369" cy="2585938"/>
          </a:xfrm>
          <a:prstGeom prst="rect">
            <a:avLst/>
          </a:prstGeom>
          <a:ln>
            <a:solidFill>
              <a:schemeClr val="tx1"/>
            </a:solidFill>
          </a:ln>
        </p:spPr>
      </p:pic>
      <p:pic>
        <p:nvPicPr>
          <p:cNvPr id="9" name="Picture 8">
            <a:extLst>
              <a:ext uri="{FF2B5EF4-FFF2-40B4-BE49-F238E27FC236}">
                <a16:creationId xmlns:a16="http://schemas.microsoft.com/office/drawing/2014/main" id="{7440E74E-DBB8-7E30-BEB1-3C73212D67D1}"/>
              </a:ext>
            </a:extLst>
          </p:cNvPr>
          <p:cNvPicPr>
            <a:picLocks noChangeAspect="1"/>
          </p:cNvPicPr>
          <p:nvPr/>
        </p:nvPicPr>
        <p:blipFill>
          <a:blip r:embed="rId3"/>
          <a:stretch>
            <a:fillRect/>
          </a:stretch>
        </p:blipFill>
        <p:spPr>
          <a:xfrm>
            <a:off x="6474846" y="904108"/>
            <a:ext cx="2370025" cy="2385267"/>
          </a:xfrm>
          <a:prstGeom prst="rect">
            <a:avLst/>
          </a:prstGeom>
          <a:ln>
            <a:solidFill>
              <a:schemeClr val="tx1"/>
            </a:solidFill>
          </a:ln>
        </p:spPr>
      </p:pic>
    </p:spTree>
    <p:extLst>
      <p:ext uri="{BB962C8B-B14F-4D97-AF65-F5344CB8AC3E}">
        <p14:creationId xmlns:p14="http://schemas.microsoft.com/office/powerpoint/2010/main" val="1484526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BB1CCFAE-A460-85BE-C906-2A0492F78D59}"/>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B43E3741-EA39-99EF-520A-2D5662AE6177}"/>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3165332B-CB6F-4A92-73EA-D488D11AE426}"/>
              </a:ext>
            </a:extLst>
          </p:cNvPr>
          <p:cNvSpPr/>
          <p:nvPr/>
        </p:nvSpPr>
        <p:spPr>
          <a:xfrm>
            <a:off x="182880" y="-1"/>
            <a:ext cx="8046720" cy="766689"/>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Q11  </a:t>
            </a:r>
            <a:r>
              <a:rPr lang="en-IN" sz="1400" dirty="0">
                <a:solidFill>
                  <a:schemeClr val="bg1"/>
                </a:solidFill>
              </a:rPr>
              <a:t>Which territories show the highest revenue growth rate year-over-year?</a:t>
            </a:r>
          </a:p>
          <a:p>
            <a:r>
              <a:rPr lang="en-US" sz="13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pic>
        <p:nvPicPr>
          <p:cNvPr id="9" name="Picture 8">
            <a:extLst>
              <a:ext uri="{FF2B5EF4-FFF2-40B4-BE49-F238E27FC236}">
                <a16:creationId xmlns:a16="http://schemas.microsoft.com/office/drawing/2014/main" id="{7BF2ECC9-BF57-B569-4332-E1CED1D6C88F}"/>
              </a:ext>
            </a:extLst>
          </p:cNvPr>
          <p:cNvPicPr>
            <a:picLocks noChangeAspect="1"/>
          </p:cNvPicPr>
          <p:nvPr/>
        </p:nvPicPr>
        <p:blipFill>
          <a:blip r:embed="rId2"/>
          <a:srcRect t="1533"/>
          <a:stretch>
            <a:fillRect/>
          </a:stretch>
        </p:blipFill>
        <p:spPr>
          <a:xfrm>
            <a:off x="35170" y="710419"/>
            <a:ext cx="8660071" cy="4067092"/>
          </a:xfrm>
          <a:prstGeom prst="rect">
            <a:avLst/>
          </a:prstGeom>
          <a:ln>
            <a:solidFill>
              <a:schemeClr val="tx1"/>
            </a:solidFill>
          </a:ln>
        </p:spPr>
      </p:pic>
      <p:sp>
        <p:nvSpPr>
          <p:cNvPr id="12" name="TextBox 11">
            <a:extLst>
              <a:ext uri="{FF2B5EF4-FFF2-40B4-BE49-F238E27FC236}">
                <a16:creationId xmlns:a16="http://schemas.microsoft.com/office/drawing/2014/main" id="{4CDF6F6E-59CD-4F6C-3E43-6636EE6FA8CD}"/>
              </a:ext>
            </a:extLst>
          </p:cNvPr>
          <p:cNvSpPr txBox="1"/>
          <p:nvPr/>
        </p:nvSpPr>
        <p:spPr>
          <a:xfrm>
            <a:off x="8102990" y="4757939"/>
            <a:ext cx="949569" cy="338554"/>
          </a:xfrm>
          <a:prstGeom prst="rect">
            <a:avLst/>
          </a:prstGeom>
          <a:solidFill>
            <a:srgbClr val="0F1B2D"/>
          </a:solidFill>
          <a:ln w="12700">
            <a:solidFill>
              <a:srgbClr val="0F1B2D"/>
            </a:solidFill>
            <a:prstDash val="solid"/>
          </a:ln>
        </p:spPr>
        <p:txBody>
          <a:bodyPr wrap="square" rtlCol="0">
            <a:spAutoFit/>
          </a:bodyPr>
          <a:lstStyle/>
          <a:p>
            <a:r>
              <a:rPr lang="en-IN" sz="1600" dirty="0">
                <a:solidFill>
                  <a:schemeClr val="bg1"/>
                </a:solidFill>
              </a:rPr>
              <a:t>Contd..</a:t>
            </a:r>
            <a:endParaRPr lang="en-IN" dirty="0">
              <a:solidFill>
                <a:schemeClr val="bg1"/>
              </a:solidFill>
            </a:endParaRPr>
          </a:p>
        </p:txBody>
      </p:sp>
    </p:spTree>
    <p:extLst>
      <p:ext uri="{BB962C8B-B14F-4D97-AF65-F5344CB8AC3E}">
        <p14:creationId xmlns:p14="http://schemas.microsoft.com/office/powerpoint/2010/main" val="2388258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1">
            <a:extLst>
              <a:ext uri="{FF2B5EF4-FFF2-40B4-BE49-F238E27FC236}">
                <a16:creationId xmlns:a16="http://schemas.microsoft.com/office/drawing/2014/main" id="{3ADAD23A-275A-8075-20CE-9B1E4F3FAC80}"/>
              </a:ext>
            </a:extLst>
          </p:cNvPr>
          <p:cNvSpPr/>
          <p:nvPr/>
        </p:nvSpPr>
        <p:spPr>
          <a:xfrm>
            <a:off x="28135"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7" name="Shape 32">
            <a:extLst>
              <a:ext uri="{FF2B5EF4-FFF2-40B4-BE49-F238E27FC236}">
                <a16:creationId xmlns:a16="http://schemas.microsoft.com/office/drawing/2014/main" id="{58309458-9B48-E86F-E116-BF57FACB809C}"/>
              </a:ext>
            </a:extLst>
          </p:cNvPr>
          <p:cNvSpPr/>
          <p:nvPr/>
        </p:nvSpPr>
        <p:spPr>
          <a:xfrm>
            <a:off x="-1" y="0"/>
            <a:ext cx="54864" cy="603504"/>
          </a:xfrm>
          <a:prstGeom prst="rect">
            <a:avLst/>
          </a:prstGeom>
          <a:solidFill>
            <a:srgbClr val="00C4A7"/>
          </a:solidFill>
          <a:ln w="12700">
            <a:solidFill>
              <a:srgbClr val="00C4A7"/>
            </a:solidFill>
            <a:prstDash val="solid"/>
          </a:ln>
        </p:spPr>
        <p:txBody>
          <a:bodyPr/>
          <a:lstStyle/>
          <a:p>
            <a:endParaRPr lang="en-IN"/>
          </a:p>
        </p:txBody>
      </p:sp>
      <p:sp>
        <p:nvSpPr>
          <p:cNvPr id="9" name="Text 33">
            <a:extLst>
              <a:ext uri="{FF2B5EF4-FFF2-40B4-BE49-F238E27FC236}">
                <a16:creationId xmlns:a16="http://schemas.microsoft.com/office/drawing/2014/main" id="{0F876369-85F6-9C29-F9BC-907A8ADC6C8B}"/>
              </a:ext>
            </a:extLst>
          </p:cNvPr>
          <p:cNvSpPr/>
          <p:nvPr/>
        </p:nvSpPr>
        <p:spPr>
          <a:xfrm>
            <a:off x="211015" y="-1"/>
            <a:ext cx="8046720" cy="766689"/>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Q11  </a:t>
            </a:r>
            <a:r>
              <a:rPr lang="en-IN" sz="1400" dirty="0">
                <a:solidFill>
                  <a:schemeClr val="bg1"/>
                </a:solidFill>
              </a:rPr>
              <a:t>Which territories show the highest revenue growth rate year-over-year?</a:t>
            </a:r>
          </a:p>
          <a:p>
            <a:r>
              <a:rPr lang="en-US" sz="1300" b="1" dirty="0">
                <a:solidFill>
                  <a:srgbClr val="FFFFFF"/>
                </a:solidFill>
                <a:latin typeface="Calibri" pitchFamily="34" charset="0"/>
                <a:ea typeface="Calibri" pitchFamily="34" charset="-122"/>
                <a:cs typeface="Calibri" pitchFamily="34" charset="-120"/>
              </a:rPr>
              <a:t>    </a:t>
            </a:r>
            <a:endParaRPr lang="en-US" sz="1300" dirty="0">
              <a:solidFill>
                <a:schemeClr val="bg1"/>
              </a:solidFill>
            </a:endParaRPr>
          </a:p>
        </p:txBody>
      </p:sp>
      <p:pic>
        <p:nvPicPr>
          <p:cNvPr id="13" name="Picture 12">
            <a:extLst>
              <a:ext uri="{FF2B5EF4-FFF2-40B4-BE49-F238E27FC236}">
                <a16:creationId xmlns:a16="http://schemas.microsoft.com/office/drawing/2014/main" id="{E747CB6E-5524-827C-AC80-9EB8C534941A}"/>
              </a:ext>
            </a:extLst>
          </p:cNvPr>
          <p:cNvPicPr>
            <a:picLocks noChangeAspect="1"/>
          </p:cNvPicPr>
          <p:nvPr/>
        </p:nvPicPr>
        <p:blipFill>
          <a:blip r:embed="rId2"/>
          <a:srcRect t="2954"/>
          <a:stretch>
            <a:fillRect/>
          </a:stretch>
        </p:blipFill>
        <p:spPr>
          <a:xfrm>
            <a:off x="27431" y="694944"/>
            <a:ext cx="3158197" cy="2876844"/>
          </a:xfrm>
          <a:prstGeom prst="rect">
            <a:avLst/>
          </a:prstGeom>
          <a:ln>
            <a:solidFill>
              <a:schemeClr val="tx1"/>
            </a:solidFill>
          </a:ln>
        </p:spPr>
      </p:pic>
      <p:graphicFrame>
        <p:nvGraphicFramePr>
          <p:cNvPr id="2" name="Chart 1">
            <a:extLst>
              <a:ext uri="{FF2B5EF4-FFF2-40B4-BE49-F238E27FC236}">
                <a16:creationId xmlns:a16="http://schemas.microsoft.com/office/drawing/2014/main" id="{C8F7F3A1-95E6-8D02-830E-C40DE7290B26}"/>
              </a:ext>
            </a:extLst>
          </p:cNvPr>
          <p:cNvGraphicFramePr>
            <a:graphicFrameLocks/>
          </p:cNvGraphicFramePr>
          <p:nvPr>
            <p:extLst>
              <p:ext uri="{D42A27DB-BD31-4B8C-83A1-F6EECF244321}">
                <p14:modId xmlns:p14="http://schemas.microsoft.com/office/powerpoint/2010/main" val="711051193"/>
              </p:ext>
            </p:extLst>
          </p:nvPr>
        </p:nvGraphicFramePr>
        <p:xfrm>
          <a:off x="3185628" y="603504"/>
          <a:ext cx="6340718" cy="3384687"/>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0E9E91B0-CF79-CFC0-8A81-84F72CF92369}"/>
              </a:ext>
            </a:extLst>
          </p:cNvPr>
          <p:cNvSpPr txBox="1"/>
          <p:nvPr/>
        </p:nvSpPr>
        <p:spPr>
          <a:xfrm>
            <a:off x="54863" y="4072595"/>
            <a:ext cx="8983629" cy="1042769"/>
          </a:xfrm>
          <a:prstGeom prst="rect">
            <a:avLst/>
          </a:prstGeom>
          <a:solidFill>
            <a:srgbClr val="0F1B2D"/>
          </a:solidFill>
          <a:ln w="12700">
            <a:solidFill>
              <a:srgbClr val="0F1B2D"/>
            </a:solidFill>
            <a:prstDash val="solid"/>
          </a:ln>
        </p:spPr>
        <p:txBody>
          <a:bodyPr/>
          <a:lstStyle/>
          <a:p>
            <a:r>
              <a:rPr lang="en-IN" sz="1200" b="1" u="sng" dirty="0">
                <a:solidFill>
                  <a:schemeClr val="bg1"/>
                </a:solidFill>
              </a:rPr>
              <a:t>Observation:</a:t>
            </a:r>
          </a:p>
          <a:p>
            <a:r>
              <a:rPr lang="en-IN" sz="1200" dirty="0">
                <a:solidFill>
                  <a:schemeClr val="bg1"/>
                </a:solidFill>
              </a:rPr>
              <a:t>Most territories showed good revenue growth year over year. Australia, Germany, the United Kingdom, Northwest, and France had good growth. However, Canada and Central showed a decrease in sales compared to the previous year. Northeast and Southeast also had negative growth, which means their sales went down. These territories need more attention to understand why sales decreased and how they can be improved.</a:t>
            </a:r>
          </a:p>
        </p:txBody>
      </p:sp>
    </p:spTree>
    <p:extLst>
      <p:ext uri="{BB962C8B-B14F-4D97-AF65-F5344CB8AC3E}">
        <p14:creationId xmlns:p14="http://schemas.microsoft.com/office/powerpoint/2010/main" val="1233371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1">
            <a:extLst>
              <a:ext uri="{FF2B5EF4-FFF2-40B4-BE49-F238E27FC236}">
                <a16:creationId xmlns:a16="http://schemas.microsoft.com/office/drawing/2014/main" id="{8B1D1B30-82D4-34E1-3DB0-4FCB120D161D}"/>
              </a:ext>
            </a:extLst>
          </p:cNvPr>
          <p:cNvSpPr/>
          <p:nvPr/>
        </p:nvSpPr>
        <p:spPr>
          <a:xfrm>
            <a:off x="0" y="0"/>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5" name="Shape 32">
            <a:extLst>
              <a:ext uri="{FF2B5EF4-FFF2-40B4-BE49-F238E27FC236}">
                <a16:creationId xmlns:a16="http://schemas.microsoft.com/office/drawing/2014/main" id="{A9024AC4-B623-B2D5-8CB9-C88F31BE9218}"/>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7" name="Text 33">
            <a:extLst>
              <a:ext uri="{FF2B5EF4-FFF2-40B4-BE49-F238E27FC236}">
                <a16:creationId xmlns:a16="http://schemas.microsoft.com/office/drawing/2014/main" id="{99E2F1D1-265A-3349-1F24-677F17985C59}"/>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Q12  </a:t>
            </a:r>
            <a:r>
              <a:rPr lang="en-IN" sz="1400" dirty="0">
                <a:solidFill>
                  <a:schemeClr val="bg1"/>
                </a:solidFill>
              </a:rPr>
              <a:t>Are there territories with high order volume but low profitability?</a:t>
            </a:r>
            <a:r>
              <a:rPr lang="en-US" sz="1300" b="1" dirty="0">
                <a:solidFill>
                  <a:schemeClr val="bg1"/>
                </a:solidFill>
                <a:latin typeface="Calibri" pitchFamily="34" charset="0"/>
                <a:ea typeface="Calibri" pitchFamily="34" charset="-122"/>
                <a:cs typeface="Calibri" pitchFamily="34" charset="-120"/>
              </a:rPr>
              <a:t>     </a:t>
            </a:r>
            <a:endParaRPr lang="en-US" sz="1300" dirty="0">
              <a:solidFill>
                <a:schemeClr val="bg1"/>
              </a:solidFill>
            </a:endParaRPr>
          </a:p>
        </p:txBody>
      </p:sp>
      <p:pic>
        <p:nvPicPr>
          <p:cNvPr id="9" name="Picture 8">
            <a:extLst>
              <a:ext uri="{FF2B5EF4-FFF2-40B4-BE49-F238E27FC236}">
                <a16:creationId xmlns:a16="http://schemas.microsoft.com/office/drawing/2014/main" id="{2F4B117A-6CBE-EFA5-F798-A8B682883DC0}"/>
              </a:ext>
            </a:extLst>
          </p:cNvPr>
          <p:cNvPicPr>
            <a:picLocks noChangeAspect="1"/>
          </p:cNvPicPr>
          <p:nvPr/>
        </p:nvPicPr>
        <p:blipFill>
          <a:blip r:embed="rId2"/>
          <a:srcRect t="2413"/>
          <a:stretch>
            <a:fillRect/>
          </a:stretch>
        </p:blipFill>
        <p:spPr>
          <a:xfrm>
            <a:off x="21102" y="640216"/>
            <a:ext cx="6611611" cy="2482948"/>
          </a:xfrm>
          <a:prstGeom prst="rect">
            <a:avLst/>
          </a:prstGeom>
          <a:ln>
            <a:solidFill>
              <a:schemeClr val="tx1"/>
            </a:solidFill>
          </a:ln>
        </p:spPr>
      </p:pic>
      <p:pic>
        <p:nvPicPr>
          <p:cNvPr id="11" name="Picture 10">
            <a:extLst>
              <a:ext uri="{FF2B5EF4-FFF2-40B4-BE49-F238E27FC236}">
                <a16:creationId xmlns:a16="http://schemas.microsoft.com/office/drawing/2014/main" id="{7894ED58-83AC-B6BF-63C7-9EB8C8C45084}"/>
              </a:ext>
            </a:extLst>
          </p:cNvPr>
          <p:cNvPicPr>
            <a:picLocks noChangeAspect="1"/>
          </p:cNvPicPr>
          <p:nvPr/>
        </p:nvPicPr>
        <p:blipFill>
          <a:blip r:embed="rId3"/>
          <a:srcRect t="6451"/>
          <a:stretch>
            <a:fillRect/>
          </a:stretch>
        </p:blipFill>
        <p:spPr>
          <a:xfrm>
            <a:off x="1722586" y="3286891"/>
            <a:ext cx="3060430" cy="1671509"/>
          </a:xfrm>
          <a:prstGeom prst="rect">
            <a:avLst/>
          </a:prstGeom>
          <a:ln>
            <a:solidFill>
              <a:schemeClr val="tx1"/>
            </a:solidFill>
          </a:ln>
        </p:spPr>
      </p:pic>
      <p:sp>
        <p:nvSpPr>
          <p:cNvPr id="13" name="TextBox 12">
            <a:extLst>
              <a:ext uri="{FF2B5EF4-FFF2-40B4-BE49-F238E27FC236}">
                <a16:creationId xmlns:a16="http://schemas.microsoft.com/office/drawing/2014/main" id="{872F4861-BB27-A141-1DDF-660A6A7EA5EA}"/>
              </a:ext>
            </a:extLst>
          </p:cNvPr>
          <p:cNvSpPr txBox="1"/>
          <p:nvPr/>
        </p:nvSpPr>
        <p:spPr>
          <a:xfrm>
            <a:off x="8102990" y="4757939"/>
            <a:ext cx="949569" cy="338554"/>
          </a:xfrm>
          <a:prstGeom prst="rect">
            <a:avLst/>
          </a:prstGeom>
          <a:solidFill>
            <a:srgbClr val="0F1B2D"/>
          </a:solidFill>
          <a:ln w="12700">
            <a:solidFill>
              <a:srgbClr val="0F1B2D"/>
            </a:solidFill>
            <a:prstDash val="solid"/>
          </a:ln>
        </p:spPr>
        <p:txBody>
          <a:bodyPr wrap="square" rtlCol="0">
            <a:spAutoFit/>
          </a:bodyPr>
          <a:lstStyle/>
          <a:p>
            <a:r>
              <a:rPr lang="en-IN" sz="1600" dirty="0">
                <a:solidFill>
                  <a:schemeClr val="bg1"/>
                </a:solidFill>
              </a:rPr>
              <a:t>Contd..</a:t>
            </a:r>
            <a:endParaRPr lang="en-IN" dirty="0">
              <a:solidFill>
                <a:schemeClr val="bg1"/>
              </a:solidFill>
            </a:endParaRPr>
          </a:p>
        </p:txBody>
      </p:sp>
    </p:spTree>
    <p:extLst>
      <p:ext uri="{BB962C8B-B14F-4D97-AF65-F5344CB8AC3E}">
        <p14:creationId xmlns:p14="http://schemas.microsoft.com/office/powerpoint/2010/main" val="3054094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31">
            <a:extLst>
              <a:ext uri="{FF2B5EF4-FFF2-40B4-BE49-F238E27FC236}">
                <a16:creationId xmlns:a16="http://schemas.microsoft.com/office/drawing/2014/main" id="{40B02B67-4D75-B78C-0EBC-84F90427E14C}"/>
              </a:ext>
            </a:extLst>
          </p:cNvPr>
          <p:cNvSpPr/>
          <p:nvPr/>
        </p:nvSpPr>
        <p:spPr>
          <a:xfrm>
            <a:off x="0" y="-49237"/>
            <a:ext cx="9144000" cy="603504"/>
          </a:xfrm>
          <a:prstGeom prst="rect">
            <a:avLst/>
          </a:prstGeom>
          <a:solidFill>
            <a:srgbClr val="0F1B2D"/>
          </a:solidFill>
          <a:ln w="12700">
            <a:solidFill>
              <a:srgbClr val="0F1B2D"/>
            </a:solidFill>
            <a:prstDash val="solid"/>
          </a:ln>
        </p:spPr>
        <p:txBody>
          <a:bodyPr/>
          <a:lstStyle/>
          <a:p>
            <a:endParaRPr lang="en-IN" dirty="0"/>
          </a:p>
        </p:txBody>
      </p:sp>
      <p:sp>
        <p:nvSpPr>
          <p:cNvPr id="19" name="Shape 32">
            <a:extLst>
              <a:ext uri="{FF2B5EF4-FFF2-40B4-BE49-F238E27FC236}">
                <a16:creationId xmlns:a16="http://schemas.microsoft.com/office/drawing/2014/main" id="{6D0F7535-8EBA-D92A-D929-B23B58378175}"/>
              </a:ext>
            </a:extLst>
          </p:cNvPr>
          <p:cNvSpPr/>
          <p:nvPr/>
        </p:nvSpPr>
        <p:spPr>
          <a:xfrm>
            <a:off x="0" y="0"/>
            <a:ext cx="54864" cy="603504"/>
          </a:xfrm>
          <a:prstGeom prst="rect">
            <a:avLst/>
          </a:prstGeom>
          <a:solidFill>
            <a:srgbClr val="00C4A7"/>
          </a:solidFill>
          <a:ln w="12700">
            <a:solidFill>
              <a:srgbClr val="00C4A7"/>
            </a:solidFill>
            <a:prstDash val="solid"/>
          </a:ln>
        </p:spPr>
        <p:txBody>
          <a:bodyPr/>
          <a:lstStyle/>
          <a:p>
            <a:endParaRPr lang="en-IN"/>
          </a:p>
        </p:txBody>
      </p:sp>
      <p:sp>
        <p:nvSpPr>
          <p:cNvPr id="21" name="Text 33">
            <a:extLst>
              <a:ext uri="{FF2B5EF4-FFF2-40B4-BE49-F238E27FC236}">
                <a16:creationId xmlns:a16="http://schemas.microsoft.com/office/drawing/2014/main" id="{B280C389-771A-9F07-F3E8-13C08C6862A9}"/>
              </a:ext>
            </a:extLst>
          </p:cNvPr>
          <p:cNvSpPr/>
          <p:nvPr/>
        </p:nvSpPr>
        <p:spPr>
          <a:xfrm>
            <a:off x="182880" y="0"/>
            <a:ext cx="8046720" cy="603504"/>
          </a:xfrm>
          <a:prstGeom prst="rect">
            <a:avLst/>
          </a:prstGeom>
          <a:noFill/>
          <a:ln/>
        </p:spPr>
        <p:txBody>
          <a:bodyPr wrap="square" lIns="0" tIns="0" rIns="0" bIns="0" rtlCol="0" anchor="ctr"/>
          <a:lstStyle/>
          <a:p>
            <a:r>
              <a:rPr lang="en-US" sz="1300" b="1" dirty="0">
                <a:solidFill>
                  <a:srgbClr val="FFFFFF"/>
                </a:solidFill>
                <a:latin typeface="Calibri" pitchFamily="34" charset="0"/>
                <a:ea typeface="Calibri" pitchFamily="34" charset="-122"/>
                <a:cs typeface="Calibri" pitchFamily="34" charset="-120"/>
              </a:rPr>
              <a:t>Q12  </a:t>
            </a:r>
            <a:r>
              <a:rPr lang="en-IN" sz="1400" dirty="0">
                <a:solidFill>
                  <a:schemeClr val="bg1"/>
                </a:solidFill>
              </a:rPr>
              <a:t>Are there territories with high order volume but low profitability?</a:t>
            </a:r>
            <a:r>
              <a:rPr lang="en-US" sz="1300" b="1" dirty="0">
                <a:solidFill>
                  <a:schemeClr val="bg1"/>
                </a:solidFill>
                <a:latin typeface="Calibri" pitchFamily="34" charset="0"/>
                <a:ea typeface="Calibri" pitchFamily="34" charset="-122"/>
                <a:cs typeface="Calibri" pitchFamily="34" charset="-120"/>
              </a:rPr>
              <a:t>     </a:t>
            </a:r>
            <a:endParaRPr lang="en-US" sz="1300" dirty="0">
              <a:solidFill>
                <a:schemeClr val="bg1"/>
              </a:solidFill>
            </a:endParaRPr>
          </a:p>
        </p:txBody>
      </p:sp>
      <p:graphicFrame>
        <p:nvGraphicFramePr>
          <p:cNvPr id="29" name="Chart 28">
            <a:extLst>
              <a:ext uri="{FF2B5EF4-FFF2-40B4-BE49-F238E27FC236}">
                <a16:creationId xmlns:a16="http://schemas.microsoft.com/office/drawing/2014/main" id="{E111032F-105F-FB9B-A7F4-185875D1822D}"/>
              </a:ext>
            </a:extLst>
          </p:cNvPr>
          <p:cNvGraphicFramePr>
            <a:graphicFrameLocks/>
          </p:cNvGraphicFramePr>
          <p:nvPr>
            <p:extLst>
              <p:ext uri="{D42A27DB-BD31-4B8C-83A1-F6EECF244321}">
                <p14:modId xmlns:p14="http://schemas.microsoft.com/office/powerpoint/2010/main" val="279734962"/>
              </p:ext>
            </p:extLst>
          </p:nvPr>
        </p:nvGraphicFramePr>
        <p:xfrm>
          <a:off x="54864" y="855491"/>
          <a:ext cx="5433939" cy="4215911"/>
        </p:xfrm>
        <a:graphic>
          <a:graphicData uri="http://schemas.openxmlformats.org/drawingml/2006/chart">
            <c:chart xmlns:c="http://schemas.openxmlformats.org/drawingml/2006/chart" xmlns:r="http://schemas.openxmlformats.org/officeDocument/2006/relationships" r:id="rId2"/>
          </a:graphicData>
        </a:graphic>
      </p:graphicFrame>
      <p:sp>
        <p:nvSpPr>
          <p:cNvPr id="33" name="TextBox 32">
            <a:extLst>
              <a:ext uri="{FF2B5EF4-FFF2-40B4-BE49-F238E27FC236}">
                <a16:creationId xmlns:a16="http://schemas.microsoft.com/office/drawing/2014/main" id="{95D5B87E-6136-FBE6-EFE8-1FF56DD9BBBC}"/>
              </a:ext>
            </a:extLst>
          </p:cNvPr>
          <p:cNvSpPr txBox="1"/>
          <p:nvPr/>
        </p:nvSpPr>
        <p:spPr>
          <a:xfrm>
            <a:off x="5530097" y="1370004"/>
            <a:ext cx="3600333" cy="2512679"/>
          </a:xfrm>
          <a:prstGeom prst="rect">
            <a:avLst/>
          </a:prstGeom>
          <a:solidFill>
            <a:srgbClr val="0F1B2D"/>
          </a:solidFill>
          <a:ln w="12700">
            <a:solidFill>
              <a:srgbClr val="0F1B2D"/>
            </a:solidFill>
            <a:prstDash val="solid"/>
          </a:ln>
        </p:spPr>
        <p:txBody>
          <a:bodyPr/>
          <a:lstStyle/>
          <a:p>
            <a:r>
              <a:rPr lang="en-IN" sz="1600" u="sng" dirty="0">
                <a:solidFill>
                  <a:schemeClr val="bg1"/>
                </a:solidFill>
              </a:rPr>
              <a:t>Observation</a:t>
            </a:r>
            <a:r>
              <a:rPr lang="en-IN" sz="1600" dirty="0">
                <a:solidFill>
                  <a:schemeClr val="bg1"/>
                </a:solidFill>
              </a:rPr>
              <a:t>:</a:t>
            </a:r>
          </a:p>
          <a:p>
            <a:r>
              <a:rPr lang="en-IN" sz="1400" dirty="0">
                <a:solidFill>
                  <a:schemeClr val="bg1"/>
                </a:solidFill>
              </a:rPr>
              <a:t>Southwest, Canada, and Northwest had the highest number of orders, but their profit was lower compared to Australia. Australia had fewer orders but generated the highest profit. The United Kingdom and France also showed good profit with fewer orders.</a:t>
            </a:r>
          </a:p>
          <a:p>
            <a:r>
              <a:rPr lang="en-IN" sz="1600" u="sng" dirty="0">
                <a:solidFill>
                  <a:schemeClr val="bg1"/>
                </a:solidFill>
              </a:rPr>
              <a:t>We should focus on :</a:t>
            </a:r>
          </a:p>
          <a:p>
            <a:r>
              <a:rPr lang="en-IN" sz="1400" dirty="0">
                <a:solidFill>
                  <a:schemeClr val="bg1"/>
                </a:solidFill>
              </a:rPr>
              <a:t> Southeast, Northeast, and Central has negative profit. These territories We should focus </a:t>
            </a:r>
          </a:p>
        </p:txBody>
      </p:sp>
    </p:spTree>
    <p:extLst>
      <p:ext uri="{BB962C8B-B14F-4D97-AF65-F5344CB8AC3E}">
        <p14:creationId xmlns:p14="http://schemas.microsoft.com/office/powerpoint/2010/main" val="1907296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457200" y="3200400"/>
            <a:ext cx="3657600" cy="3657600"/>
          </a:xfrm>
          <a:prstGeom prst="ellipse">
            <a:avLst/>
          </a:prstGeom>
          <a:solidFill>
            <a:srgbClr val="00C4A7">
              <a:alpha val="8000"/>
            </a:srgbClr>
          </a:solidFill>
          <a:ln w="12700">
            <a:solidFill>
              <a:srgbClr val="00C4A7">
                <a:alpha val="12000"/>
              </a:srgbClr>
            </a:solidFill>
            <a:prstDash val="solid"/>
          </a:ln>
        </p:spPr>
        <p:txBody>
          <a:bodyPr/>
          <a:lstStyle/>
          <a:p>
            <a:endParaRPr lang="en-IN"/>
          </a:p>
        </p:txBody>
      </p:sp>
      <p:sp>
        <p:nvSpPr>
          <p:cNvPr id="3" name="Shape 1"/>
          <p:cNvSpPr/>
          <p:nvPr/>
        </p:nvSpPr>
        <p:spPr>
          <a:xfrm>
            <a:off x="7132320" y="-731520"/>
            <a:ext cx="3474720" cy="3200400"/>
          </a:xfrm>
          <a:prstGeom prst="ellipse">
            <a:avLst/>
          </a:prstGeom>
          <a:solidFill>
            <a:srgbClr val="4FC3F7">
              <a:alpha val="7000"/>
            </a:srgbClr>
          </a:solidFill>
          <a:ln w="12700">
            <a:solidFill>
              <a:srgbClr val="4FC3F7">
                <a:alpha val="12000"/>
              </a:srgbClr>
            </a:solidFill>
            <a:prstDash val="solid"/>
          </a:ln>
        </p:spPr>
        <p:txBody>
          <a:bodyPr/>
          <a:lstStyle/>
          <a:p>
            <a:endParaRPr lang="en-IN"/>
          </a:p>
        </p:txBody>
      </p:sp>
      <p:sp>
        <p:nvSpPr>
          <p:cNvPr id="4" name="Shape 2"/>
          <p:cNvSpPr/>
          <p:nvPr/>
        </p:nvSpPr>
        <p:spPr>
          <a:xfrm>
            <a:off x="0" y="0"/>
            <a:ext cx="9144000" cy="54864"/>
          </a:xfrm>
          <a:prstGeom prst="rect">
            <a:avLst/>
          </a:prstGeom>
          <a:solidFill>
            <a:srgbClr val="00C4A7"/>
          </a:solidFill>
          <a:ln w="12700">
            <a:solidFill>
              <a:srgbClr val="00C4A7"/>
            </a:solidFill>
            <a:prstDash val="solid"/>
          </a:ln>
        </p:spPr>
        <p:txBody>
          <a:bodyPr/>
          <a:lstStyle/>
          <a:p>
            <a:endParaRPr lang="en-IN"/>
          </a:p>
        </p:txBody>
      </p:sp>
      <p:sp>
        <p:nvSpPr>
          <p:cNvPr id="5" name="Text 3"/>
          <p:cNvSpPr/>
          <p:nvPr/>
        </p:nvSpPr>
        <p:spPr>
          <a:xfrm>
            <a:off x="3200400" y="822960"/>
            <a:ext cx="2743200" cy="1280160"/>
          </a:xfrm>
          <a:prstGeom prst="rect">
            <a:avLst/>
          </a:prstGeom>
          <a:noFill/>
          <a:ln/>
        </p:spPr>
        <p:txBody>
          <a:bodyPr wrap="square" rtlCol="0" anchor="ctr"/>
          <a:lstStyle/>
          <a:p>
            <a:pPr marL="0" indent="0" algn="ctr">
              <a:buNone/>
            </a:pPr>
            <a:r>
              <a:rPr lang="en-US" sz="6400" b="1" dirty="0">
                <a:solidFill>
                  <a:srgbClr val="00C4A7"/>
                </a:solidFill>
              </a:rPr>
              <a:t>✓</a:t>
            </a:r>
            <a:endParaRPr lang="en-US" sz="6400" dirty="0"/>
          </a:p>
        </p:txBody>
      </p:sp>
      <p:sp>
        <p:nvSpPr>
          <p:cNvPr id="6" name="Text 4"/>
          <p:cNvSpPr/>
          <p:nvPr/>
        </p:nvSpPr>
        <p:spPr>
          <a:xfrm>
            <a:off x="914400" y="2103120"/>
            <a:ext cx="7315200" cy="73152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Analysis Complete</a:t>
            </a:r>
            <a:endParaRPr lang="en-US" sz="3600" dirty="0"/>
          </a:p>
        </p:txBody>
      </p:sp>
      <p:sp>
        <p:nvSpPr>
          <p:cNvPr id="7" name="Text 5"/>
          <p:cNvSpPr/>
          <p:nvPr/>
        </p:nvSpPr>
        <p:spPr>
          <a:xfrm>
            <a:off x="1097280" y="2880360"/>
            <a:ext cx="6949440" cy="731520"/>
          </a:xfrm>
          <a:prstGeom prst="rect">
            <a:avLst/>
          </a:prstGeom>
          <a:noFill/>
          <a:ln/>
        </p:spPr>
        <p:txBody>
          <a:bodyPr wrap="square" rtlCol="0" anchor="ctr"/>
          <a:lstStyle/>
          <a:p>
            <a:pPr marL="0" indent="0" algn="ctr">
              <a:buNone/>
            </a:pPr>
            <a:r>
              <a:rPr lang="en-US" sz="1300" i="1" dirty="0">
                <a:solidFill>
                  <a:srgbClr val="7B9BB5"/>
                </a:solidFill>
                <a:latin typeface="Calibri" pitchFamily="34" charset="0"/>
                <a:ea typeface="Calibri" pitchFamily="34" charset="-122"/>
                <a:cs typeface="Calibri" pitchFamily="34" charset="-120"/>
              </a:rPr>
              <a:t>This SQL documentation covers 12 Business Questions </a:t>
            </a:r>
            <a:endParaRPr lang="en-US" sz="1300" dirty="0"/>
          </a:p>
        </p:txBody>
      </p:sp>
      <p:sp>
        <p:nvSpPr>
          <p:cNvPr id="8" name="Shape 6"/>
          <p:cNvSpPr/>
          <p:nvPr/>
        </p:nvSpPr>
        <p:spPr>
          <a:xfrm>
            <a:off x="3703320" y="3703320"/>
            <a:ext cx="1920240" cy="804672"/>
          </a:xfrm>
          <a:prstGeom prst="roundRect">
            <a:avLst>
              <a:gd name="adj" fmla="val 11364"/>
            </a:avLst>
          </a:prstGeom>
          <a:solidFill>
            <a:srgbClr val="1A3050"/>
          </a:solidFill>
          <a:ln w="12700">
            <a:solidFill>
              <a:srgbClr val="1E4060"/>
            </a:solidFill>
            <a:prstDash val="solid"/>
          </a:ln>
          <a:effectLst>
            <a:outerShdw blurRad="101600" dist="38100" dir="2700000" algn="bl" rotWithShape="0">
              <a:srgbClr val="000000">
                <a:alpha val="18000"/>
              </a:srgbClr>
            </a:outerShdw>
          </a:effectLst>
        </p:spPr>
        <p:txBody>
          <a:bodyPr/>
          <a:lstStyle/>
          <a:p>
            <a:endParaRPr lang="en-IN"/>
          </a:p>
        </p:txBody>
      </p:sp>
      <p:sp>
        <p:nvSpPr>
          <p:cNvPr id="9" name="Text 7"/>
          <p:cNvSpPr/>
          <p:nvPr/>
        </p:nvSpPr>
        <p:spPr>
          <a:xfrm>
            <a:off x="3699818" y="3657600"/>
            <a:ext cx="1920240" cy="493776"/>
          </a:xfrm>
          <a:prstGeom prst="rect">
            <a:avLst/>
          </a:prstGeom>
          <a:noFill/>
          <a:ln/>
        </p:spPr>
        <p:txBody>
          <a:bodyPr wrap="square" lIns="0" tIns="0" rIns="0" bIns="0" rtlCol="0" anchor="ctr"/>
          <a:lstStyle/>
          <a:p>
            <a:pPr marL="0" indent="0" algn="ctr">
              <a:buNone/>
            </a:pPr>
            <a:r>
              <a:rPr lang="en-US" b="1" dirty="0">
                <a:solidFill>
                  <a:srgbClr val="00C4A7"/>
                </a:solidFill>
                <a:latin typeface="Cambria" pitchFamily="34" charset="0"/>
                <a:ea typeface="Cambria" pitchFamily="34" charset="-122"/>
              </a:rPr>
              <a:t>12</a:t>
            </a:r>
            <a:endParaRPr lang="en-US" sz="1800" dirty="0"/>
          </a:p>
        </p:txBody>
      </p:sp>
      <p:sp>
        <p:nvSpPr>
          <p:cNvPr id="10" name="Text 8"/>
          <p:cNvSpPr/>
          <p:nvPr/>
        </p:nvSpPr>
        <p:spPr>
          <a:xfrm>
            <a:off x="3713883" y="4133088"/>
            <a:ext cx="1920240" cy="329184"/>
          </a:xfrm>
          <a:prstGeom prst="rect">
            <a:avLst/>
          </a:prstGeom>
          <a:noFill/>
          <a:ln/>
        </p:spPr>
        <p:txBody>
          <a:bodyPr wrap="square" lIns="0" tIns="0" rIns="0" bIns="0" rtlCol="0" anchor="t"/>
          <a:lstStyle/>
          <a:p>
            <a:pPr marL="0" indent="0" algn="ctr">
              <a:buNone/>
            </a:pPr>
            <a:r>
              <a:rPr lang="en-US" sz="800" dirty="0">
                <a:solidFill>
                  <a:srgbClr val="7B9BB5"/>
                </a:solidFill>
              </a:rPr>
              <a:t>Queries Analyzed</a:t>
            </a:r>
            <a:endParaRPr lang="en-US" sz="800" dirty="0"/>
          </a:p>
        </p:txBody>
      </p:sp>
      <p:sp>
        <p:nvSpPr>
          <p:cNvPr id="20" name="Text 18"/>
          <p:cNvSpPr/>
          <p:nvPr/>
        </p:nvSpPr>
        <p:spPr>
          <a:xfrm>
            <a:off x="0" y="4800600"/>
            <a:ext cx="9144000" cy="274320"/>
          </a:xfrm>
          <a:prstGeom prst="rect">
            <a:avLst/>
          </a:prstGeom>
          <a:noFill/>
          <a:ln/>
        </p:spPr>
        <p:txBody>
          <a:bodyPr wrap="square" rtlCol="0" anchor="ctr"/>
          <a:lstStyle/>
          <a:p>
            <a:pPr marL="0" indent="0" algn="ctr">
              <a:buNone/>
            </a:pPr>
            <a:r>
              <a:rPr lang="en-US" sz="900" dirty="0">
                <a:solidFill>
                  <a:srgbClr val="7B9BB5"/>
                </a:solidFill>
              </a:rPr>
              <a:t>Shiva  Keshav Data analyst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754</TotalTime>
  <Words>1072</Words>
  <Application>Microsoft Office PowerPoint</Application>
  <PresentationFormat>On-screen Show (16:9)</PresentationFormat>
  <Paragraphs>106</Paragraphs>
  <Slides>19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Data Analysis - Financial Segments</dc:title>
  <dc:subject>PptxGenJS Presentation</dc:subject>
  <dc:creator>PptxGenJS</dc:creator>
  <cp:lastModifiedBy>shiva keshav Thatipelly</cp:lastModifiedBy>
  <cp:revision>40</cp:revision>
  <dcterms:created xsi:type="dcterms:W3CDTF">2026-06-19T17:42:01Z</dcterms:created>
  <dcterms:modified xsi:type="dcterms:W3CDTF">2026-06-30T08:56:48Z</dcterms:modified>
</cp:coreProperties>
</file>